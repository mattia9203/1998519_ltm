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4" r:id="rId12"/>
    <p:sldId id="267" r:id="rId13"/>
    <p:sldId id="268" r:id="rId14"/>
    <p:sldId id="269" r:id="rId15"/>
    <p:sldId id="270" r:id="rId16"/>
    <p:sldId id="271" r:id="rId17"/>
    <p:sldId id="27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606"/>
    <p:restoredTop sz="94657"/>
  </p:normalViewPr>
  <p:slideViewPr>
    <p:cSldViewPr snapToGrid="0" snapToObjects="1">
      <p:cViewPr>
        <p:scale>
          <a:sx n="103" d="100"/>
          <a:sy n="103" d="100"/>
        </p:scale>
        <p:origin x="152" y="1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7007855-F7E4-4CA1-B399-8099EFA7EB74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0A14BBE-9105-4C07-89C7-8ACCD2D06FD5}">
      <dgm:prSet/>
      <dgm:spPr/>
      <dgm:t>
        <a:bodyPr/>
        <a:lstStyle/>
        <a:p>
          <a:r>
            <a:rPr lang="it-IT" dirty="0" err="1"/>
            <a:t>Ingest</a:t>
          </a:r>
          <a:r>
            <a:rPr lang="it-IT" dirty="0"/>
            <a:t> live </a:t>
          </a:r>
          <a:r>
            <a:rPr lang="it-IT" dirty="0" err="1"/>
            <a:t>measurements</a:t>
          </a:r>
          <a:r>
            <a:rPr lang="it-IT" dirty="0"/>
            <a:t> from an </a:t>
          </a:r>
          <a:r>
            <a:rPr lang="it-IT" dirty="0" err="1"/>
            <a:t>external</a:t>
          </a:r>
          <a:r>
            <a:rPr lang="it-IT" dirty="0"/>
            <a:t> </a:t>
          </a:r>
          <a:r>
            <a:rPr lang="it-IT" dirty="0" err="1"/>
            <a:t>seismic</a:t>
          </a:r>
          <a:r>
            <a:rPr lang="it-IT" dirty="0"/>
            <a:t> simulator.</a:t>
          </a:r>
          <a:endParaRPr lang="en-US" dirty="0"/>
        </a:p>
      </dgm:t>
    </dgm:pt>
    <dgm:pt modelId="{9E226491-3083-426E-95E3-F95831FE0545}" type="parTrans" cxnId="{9DD3CF3C-44B9-452B-B332-450AD254FC68}">
      <dgm:prSet/>
      <dgm:spPr/>
      <dgm:t>
        <a:bodyPr/>
        <a:lstStyle/>
        <a:p>
          <a:endParaRPr lang="en-US"/>
        </a:p>
      </dgm:t>
    </dgm:pt>
    <dgm:pt modelId="{F2260813-38ED-4B32-8409-DE292B9D500F}" type="sibTrans" cxnId="{9DD3CF3C-44B9-452B-B332-450AD254FC68}">
      <dgm:prSet/>
      <dgm:spPr/>
      <dgm:t>
        <a:bodyPr/>
        <a:lstStyle/>
        <a:p>
          <a:endParaRPr lang="en-US"/>
        </a:p>
      </dgm:t>
    </dgm:pt>
    <dgm:pt modelId="{56DEE44A-2A15-4C15-875E-D6A61D08C11B}">
      <dgm:prSet/>
      <dgm:spPr/>
      <dgm:t>
        <a:bodyPr/>
        <a:lstStyle/>
        <a:p>
          <a:r>
            <a:rPr lang="it-IT"/>
            <a:t>Redistribute a normalized stream to replicated processing nodes</a:t>
          </a:r>
          <a:endParaRPr lang="en-US"/>
        </a:p>
      </dgm:t>
    </dgm:pt>
    <dgm:pt modelId="{B2CCA0F9-10CD-4979-B883-20065BC4B468}" type="parTrans" cxnId="{960A36D0-E79C-4B90-B166-A47312B79753}">
      <dgm:prSet/>
      <dgm:spPr/>
      <dgm:t>
        <a:bodyPr/>
        <a:lstStyle/>
        <a:p>
          <a:endParaRPr lang="en-US"/>
        </a:p>
      </dgm:t>
    </dgm:pt>
    <dgm:pt modelId="{7DF8BEC9-9EC5-4FCB-8E9D-91D10D4FDA22}" type="sibTrans" cxnId="{960A36D0-E79C-4B90-B166-A47312B79753}">
      <dgm:prSet/>
      <dgm:spPr/>
      <dgm:t>
        <a:bodyPr/>
        <a:lstStyle/>
        <a:p>
          <a:endParaRPr lang="en-US"/>
        </a:p>
      </dgm:t>
    </dgm:pt>
    <dgm:pt modelId="{66286C92-CC5D-4EB0-B7E4-46DA28BEC68F}">
      <dgm:prSet/>
      <dgm:spPr/>
      <dgm:t>
        <a:bodyPr/>
        <a:lstStyle/>
        <a:p>
          <a:r>
            <a:rPr lang="it-IT"/>
            <a:t>Classify events through FFT-based frequency analysis.</a:t>
          </a:r>
          <a:endParaRPr lang="en-US"/>
        </a:p>
      </dgm:t>
    </dgm:pt>
    <dgm:pt modelId="{5AF34725-9580-4C10-887E-FFEBD422DAEB}" type="parTrans" cxnId="{8F467ABC-9EC0-4813-9751-41EB52787E9D}">
      <dgm:prSet/>
      <dgm:spPr/>
      <dgm:t>
        <a:bodyPr/>
        <a:lstStyle/>
        <a:p>
          <a:endParaRPr lang="en-US"/>
        </a:p>
      </dgm:t>
    </dgm:pt>
    <dgm:pt modelId="{25728410-E83A-4944-B7F3-04015784B555}" type="sibTrans" cxnId="{8F467ABC-9EC0-4813-9751-41EB52787E9D}">
      <dgm:prSet/>
      <dgm:spPr/>
      <dgm:t>
        <a:bodyPr/>
        <a:lstStyle/>
        <a:p>
          <a:endParaRPr lang="en-US"/>
        </a:p>
      </dgm:t>
    </dgm:pt>
    <dgm:pt modelId="{15205DAB-5D4A-46CC-97DE-0A4F7B53EB61}">
      <dgm:prSet/>
      <dgm:spPr/>
      <dgm:t>
        <a:bodyPr/>
        <a:lstStyle/>
        <a:p>
          <a:r>
            <a:rPr lang="it-IT"/>
            <a:t>Persist consolidated results in PostgreSQL.</a:t>
          </a:r>
          <a:endParaRPr lang="en-US"/>
        </a:p>
      </dgm:t>
    </dgm:pt>
    <dgm:pt modelId="{48A95DAF-617E-425E-BC4A-A96EE6C3D952}" type="parTrans" cxnId="{DFC4AB3C-B439-46F7-A3F7-A3E79CE34406}">
      <dgm:prSet/>
      <dgm:spPr/>
      <dgm:t>
        <a:bodyPr/>
        <a:lstStyle/>
        <a:p>
          <a:endParaRPr lang="en-US"/>
        </a:p>
      </dgm:t>
    </dgm:pt>
    <dgm:pt modelId="{ADC1F040-C92E-4CFD-AF5B-A208992C46AB}" type="sibTrans" cxnId="{DFC4AB3C-B439-46F7-A3F7-A3E79CE34406}">
      <dgm:prSet/>
      <dgm:spPr/>
      <dgm:t>
        <a:bodyPr/>
        <a:lstStyle/>
        <a:p>
          <a:endParaRPr lang="en-US"/>
        </a:p>
      </dgm:t>
    </dgm:pt>
    <dgm:pt modelId="{D8348013-3E52-48F2-896B-9FEEF3ECE2B6}">
      <dgm:prSet/>
      <dgm:spPr/>
      <dgm:t>
        <a:bodyPr/>
        <a:lstStyle/>
        <a:p>
          <a:r>
            <a:rPr lang="it-IT"/>
            <a:t>Expose live and historical visibility through a single dashboard.</a:t>
          </a:r>
          <a:endParaRPr lang="en-US"/>
        </a:p>
      </dgm:t>
    </dgm:pt>
    <dgm:pt modelId="{98543B8B-A6A3-49CA-A697-4C88BE6C1F25}" type="parTrans" cxnId="{0B44C237-239B-495A-A5DB-63D3E0F92611}">
      <dgm:prSet/>
      <dgm:spPr/>
      <dgm:t>
        <a:bodyPr/>
        <a:lstStyle/>
        <a:p>
          <a:endParaRPr lang="en-US"/>
        </a:p>
      </dgm:t>
    </dgm:pt>
    <dgm:pt modelId="{21BF4C05-B01C-4CAE-9DD5-ED4FBDB23422}" type="sibTrans" cxnId="{0B44C237-239B-495A-A5DB-63D3E0F92611}">
      <dgm:prSet/>
      <dgm:spPr/>
      <dgm:t>
        <a:bodyPr/>
        <a:lstStyle/>
        <a:p>
          <a:endParaRPr lang="en-US"/>
        </a:p>
      </dgm:t>
    </dgm:pt>
    <dgm:pt modelId="{684021C7-E243-564D-9A15-49A9C2F5417A}" type="pres">
      <dgm:prSet presAssocID="{47007855-F7E4-4CA1-B399-8099EFA7EB74}" presName="outerComposite" presStyleCnt="0">
        <dgm:presLayoutVars>
          <dgm:chMax val="5"/>
          <dgm:dir/>
          <dgm:resizeHandles val="exact"/>
        </dgm:presLayoutVars>
      </dgm:prSet>
      <dgm:spPr/>
    </dgm:pt>
    <dgm:pt modelId="{074A6875-A251-AC4E-AF5F-62E2D732803A}" type="pres">
      <dgm:prSet presAssocID="{47007855-F7E4-4CA1-B399-8099EFA7EB74}" presName="dummyMaxCanvas" presStyleCnt="0">
        <dgm:presLayoutVars/>
      </dgm:prSet>
      <dgm:spPr/>
    </dgm:pt>
    <dgm:pt modelId="{57D17642-AE4B-9847-B9E5-38C473E7E7CD}" type="pres">
      <dgm:prSet presAssocID="{47007855-F7E4-4CA1-B399-8099EFA7EB74}" presName="FiveNodes_1" presStyleLbl="node1" presStyleIdx="0" presStyleCnt="5" custLinFactNeighborX="409" custLinFactNeighborY="-1840">
        <dgm:presLayoutVars>
          <dgm:bulletEnabled val="1"/>
        </dgm:presLayoutVars>
      </dgm:prSet>
      <dgm:spPr/>
    </dgm:pt>
    <dgm:pt modelId="{CF997BE2-8467-8943-842E-468B181EAB99}" type="pres">
      <dgm:prSet presAssocID="{47007855-F7E4-4CA1-B399-8099EFA7EB74}" presName="FiveNodes_2" presStyleLbl="node1" presStyleIdx="1" presStyleCnt="5">
        <dgm:presLayoutVars>
          <dgm:bulletEnabled val="1"/>
        </dgm:presLayoutVars>
      </dgm:prSet>
      <dgm:spPr/>
    </dgm:pt>
    <dgm:pt modelId="{4C610171-9237-624F-B5F9-E74EE0CD7CCC}" type="pres">
      <dgm:prSet presAssocID="{47007855-F7E4-4CA1-B399-8099EFA7EB74}" presName="FiveNodes_3" presStyleLbl="node1" presStyleIdx="2" presStyleCnt="5">
        <dgm:presLayoutVars>
          <dgm:bulletEnabled val="1"/>
        </dgm:presLayoutVars>
      </dgm:prSet>
      <dgm:spPr/>
    </dgm:pt>
    <dgm:pt modelId="{33BBDCA7-13DE-D841-97C5-4EB9BF91FE53}" type="pres">
      <dgm:prSet presAssocID="{47007855-F7E4-4CA1-B399-8099EFA7EB74}" presName="FiveNodes_4" presStyleLbl="node1" presStyleIdx="3" presStyleCnt="5">
        <dgm:presLayoutVars>
          <dgm:bulletEnabled val="1"/>
        </dgm:presLayoutVars>
      </dgm:prSet>
      <dgm:spPr/>
    </dgm:pt>
    <dgm:pt modelId="{51B5E0C6-F7C5-9846-A789-DDE29A9CABB7}" type="pres">
      <dgm:prSet presAssocID="{47007855-F7E4-4CA1-B399-8099EFA7EB74}" presName="FiveNodes_5" presStyleLbl="node1" presStyleIdx="4" presStyleCnt="5">
        <dgm:presLayoutVars>
          <dgm:bulletEnabled val="1"/>
        </dgm:presLayoutVars>
      </dgm:prSet>
      <dgm:spPr/>
    </dgm:pt>
    <dgm:pt modelId="{8FC94447-3ADF-444D-8D80-EF5E91455B63}" type="pres">
      <dgm:prSet presAssocID="{47007855-F7E4-4CA1-B399-8099EFA7EB74}" presName="FiveConn_1-2" presStyleLbl="fgAccFollowNode1" presStyleIdx="0" presStyleCnt="4">
        <dgm:presLayoutVars>
          <dgm:bulletEnabled val="1"/>
        </dgm:presLayoutVars>
      </dgm:prSet>
      <dgm:spPr/>
    </dgm:pt>
    <dgm:pt modelId="{C5B120F9-8843-DF42-B438-37E3002613FE}" type="pres">
      <dgm:prSet presAssocID="{47007855-F7E4-4CA1-B399-8099EFA7EB74}" presName="FiveConn_2-3" presStyleLbl="fgAccFollowNode1" presStyleIdx="1" presStyleCnt="4">
        <dgm:presLayoutVars>
          <dgm:bulletEnabled val="1"/>
        </dgm:presLayoutVars>
      </dgm:prSet>
      <dgm:spPr/>
    </dgm:pt>
    <dgm:pt modelId="{39C67077-9345-DD44-8A69-9A1D001A1F61}" type="pres">
      <dgm:prSet presAssocID="{47007855-F7E4-4CA1-B399-8099EFA7EB74}" presName="FiveConn_3-4" presStyleLbl="fgAccFollowNode1" presStyleIdx="2" presStyleCnt="4">
        <dgm:presLayoutVars>
          <dgm:bulletEnabled val="1"/>
        </dgm:presLayoutVars>
      </dgm:prSet>
      <dgm:spPr/>
    </dgm:pt>
    <dgm:pt modelId="{1DA43963-A724-854E-A9D7-999324FCF870}" type="pres">
      <dgm:prSet presAssocID="{47007855-F7E4-4CA1-B399-8099EFA7EB74}" presName="FiveConn_4-5" presStyleLbl="fgAccFollowNode1" presStyleIdx="3" presStyleCnt="4">
        <dgm:presLayoutVars>
          <dgm:bulletEnabled val="1"/>
        </dgm:presLayoutVars>
      </dgm:prSet>
      <dgm:spPr/>
    </dgm:pt>
    <dgm:pt modelId="{EFC3D5DC-93E3-514E-A467-F76C2D231FF5}" type="pres">
      <dgm:prSet presAssocID="{47007855-F7E4-4CA1-B399-8099EFA7EB74}" presName="FiveNodes_1_text" presStyleLbl="node1" presStyleIdx="4" presStyleCnt="5">
        <dgm:presLayoutVars>
          <dgm:bulletEnabled val="1"/>
        </dgm:presLayoutVars>
      </dgm:prSet>
      <dgm:spPr/>
    </dgm:pt>
    <dgm:pt modelId="{0F8460B4-AF01-D348-911D-58F0F81947CE}" type="pres">
      <dgm:prSet presAssocID="{47007855-F7E4-4CA1-B399-8099EFA7EB74}" presName="FiveNodes_2_text" presStyleLbl="node1" presStyleIdx="4" presStyleCnt="5">
        <dgm:presLayoutVars>
          <dgm:bulletEnabled val="1"/>
        </dgm:presLayoutVars>
      </dgm:prSet>
      <dgm:spPr/>
    </dgm:pt>
    <dgm:pt modelId="{A13DD4C3-7F71-B246-8335-8E52B43ADCB4}" type="pres">
      <dgm:prSet presAssocID="{47007855-F7E4-4CA1-B399-8099EFA7EB74}" presName="FiveNodes_3_text" presStyleLbl="node1" presStyleIdx="4" presStyleCnt="5">
        <dgm:presLayoutVars>
          <dgm:bulletEnabled val="1"/>
        </dgm:presLayoutVars>
      </dgm:prSet>
      <dgm:spPr/>
    </dgm:pt>
    <dgm:pt modelId="{299BCE8D-F730-8A43-A932-4956F002FF5F}" type="pres">
      <dgm:prSet presAssocID="{47007855-F7E4-4CA1-B399-8099EFA7EB74}" presName="FiveNodes_4_text" presStyleLbl="node1" presStyleIdx="4" presStyleCnt="5">
        <dgm:presLayoutVars>
          <dgm:bulletEnabled val="1"/>
        </dgm:presLayoutVars>
      </dgm:prSet>
      <dgm:spPr/>
    </dgm:pt>
    <dgm:pt modelId="{8E07EBFC-ABDC-EE4E-8393-FDDCA9302FDE}" type="pres">
      <dgm:prSet presAssocID="{47007855-F7E4-4CA1-B399-8099EFA7EB74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BC833120-A4E2-C645-B19B-31B45AF2E7F6}" type="presOf" srcId="{ADC1F040-C92E-4CFD-AF5B-A208992C46AB}" destId="{1DA43963-A724-854E-A9D7-999324FCF870}" srcOrd="0" destOrd="0" presId="urn:microsoft.com/office/officeart/2005/8/layout/vProcess5"/>
    <dgm:cxn modelId="{0B44C237-239B-495A-A5DB-63D3E0F92611}" srcId="{47007855-F7E4-4CA1-B399-8099EFA7EB74}" destId="{D8348013-3E52-48F2-896B-9FEEF3ECE2B6}" srcOrd="4" destOrd="0" parTransId="{98543B8B-A6A3-49CA-A697-4C88BE6C1F25}" sibTransId="{21BF4C05-B01C-4CAE-9DD5-ED4FBDB23422}"/>
    <dgm:cxn modelId="{86085B3A-0755-A94A-98B7-782138110961}" type="presOf" srcId="{D8348013-3E52-48F2-896B-9FEEF3ECE2B6}" destId="{51B5E0C6-F7C5-9846-A789-DDE29A9CABB7}" srcOrd="0" destOrd="0" presId="urn:microsoft.com/office/officeart/2005/8/layout/vProcess5"/>
    <dgm:cxn modelId="{DFC4AB3C-B439-46F7-A3F7-A3E79CE34406}" srcId="{47007855-F7E4-4CA1-B399-8099EFA7EB74}" destId="{15205DAB-5D4A-46CC-97DE-0A4F7B53EB61}" srcOrd="3" destOrd="0" parTransId="{48A95DAF-617E-425E-BC4A-A96EE6C3D952}" sibTransId="{ADC1F040-C92E-4CFD-AF5B-A208992C46AB}"/>
    <dgm:cxn modelId="{9DD3CF3C-44B9-452B-B332-450AD254FC68}" srcId="{47007855-F7E4-4CA1-B399-8099EFA7EB74}" destId="{40A14BBE-9105-4C07-89C7-8ACCD2D06FD5}" srcOrd="0" destOrd="0" parTransId="{9E226491-3083-426E-95E3-F95831FE0545}" sibTransId="{F2260813-38ED-4B32-8409-DE292B9D500F}"/>
    <dgm:cxn modelId="{811D2E45-CA79-5F42-8836-1E2FC2B16A42}" type="presOf" srcId="{F2260813-38ED-4B32-8409-DE292B9D500F}" destId="{8FC94447-3ADF-444D-8D80-EF5E91455B63}" srcOrd="0" destOrd="0" presId="urn:microsoft.com/office/officeart/2005/8/layout/vProcess5"/>
    <dgm:cxn modelId="{DB8DF153-18B7-3A46-944C-67DFD304D432}" type="presOf" srcId="{25728410-E83A-4944-B7F3-04015784B555}" destId="{39C67077-9345-DD44-8A69-9A1D001A1F61}" srcOrd="0" destOrd="0" presId="urn:microsoft.com/office/officeart/2005/8/layout/vProcess5"/>
    <dgm:cxn modelId="{5F554055-6F31-D149-B44D-5399F9F21BE9}" type="presOf" srcId="{7DF8BEC9-9EC5-4FCB-8E9D-91D10D4FDA22}" destId="{C5B120F9-8843-DF42-B438-37E3002613FE}" srcOrd="0" destOrd="0" presId="urn:microsoft.com/office/officeart/2005/8/layout/vProcess5"/>
    <dgm:cxn modelId="{8C74A962-7C66-DB41-827E-67304DB040BC}" type="presOf" srcId="{D8348013-3E52-48F2-896B-9FEEF3ECE2B6}" destId="{8E07EBFC-ABDC-EE4E-8393-FDDCA9302FDE}" srcOrd="1" destOrd="0" presId="urn:microsoft.com/office/officeart/2005/8/layout/vProcess5"/>
    <dgm:cxn modelId="{D255AF65-23A0-2A4D-BD68-DFDADC688C22}" type="presOf" srcId="{56DEE44A-2A15-4C15-875E-D6A61D08C11B}" destId="{0F8460B4-AF01-D348-911D-58F0F81947CE}" srcOrd="1" destOrd="0" presId="urn:microsoft.com/office/officeart/2005/8/layout/vProcess5"/>
    <dgm:cxn modelId="{DEE92D6B-77B8-624C-B9CA-70CA8A2E7C33}" type="presOf" srcId="{15205DAB-5D4A-46CC-97DE-0A4F7B53EB61}" destId="{33BBDCA7-13DE-D841-97C5-4EB9BF91FE53}" srcOrd="0" destOrd="0" presId="urn:microsoft.com/office/officeart/2005/8/layout/vProcess5"/>
    <dgm:cxn modelId="{F34B3B92-76D3-1F4B-9F83-C1A246C3D508}" type="presOf" srcId="{40A14BBE-9105-4C07-89C7-8ACCD2D06FD5}" destId="{EFC3D5DC-93E3-514E-A467-F76C2D231FF5}" srcOrd="1" destOrd="0" presId="urn:microsoft.com/office/officeart/2005/8/layout/vProcess5"/>
    <dgm:cxn modelId="{A491F0A1-803E-5D43-8CF6-9D671B9D8E16}" type="presOf" srcId="{47007855-F7E4-4CA1-B399-8099EFA7EB74}" destId="{684021C7-E243-564D-9A15-49A9C2F5417A}" srcOrd="0" destOrd="0" presId="urn:microsoft.com/office/officeart/2005/8/layout/vProcess5"/>
    <dgm:cxn modelId="{DAD63EAC-B087-894C-A0CA-6EA0BB35C744}" type="presOf" srcId="{40A14BBE-9105-4C07-89C7-8ACCD2D06FD5}" destId="{57D17642-AE4B-9847-B9E5-38C473E7E7CD}" srcOrd="0" destOrd="0" presId="urn:microsoft.com/office/officeart/2005/8/layout/vProcess5"/>
    <dgm:cxn modelId="{3DF422B2-A147-C44F-AC9D-6B94C3840E83}" type="presOf" srcId="{66286C92-CC5D-4EB0-B7E4-46DA28BEC68F}" destId="{A13DD4C3-7F71-B246-8335-8E52B43ADCB4}" srcOrd="1" destOrd="0" presId="urn:microsoft.com/office/officeart/2005/8/layout/vProcess5"/>
    <dgm:cxn modelId="{8F467ABC-9EC0-4813-9751-41EB52787E9D}" srcId="{47007855-F7E4-4CA1-B399-8099EFA7EB74}" destId="{66286C92-CC5D-4EB0-B7E4-46DA28BEC68F}" srcOrd="2" destOrd="0" parTransId="{5AF34725-9580-4C10-887E-FFEBD422DAEB}" sibTransId="{25728410-E83A-4944-B7F3-04015784B555}"/>
    <dgm:cxn modelId="{069F17C1-82F5-A04C-B2C3-0C8A674560C5}" type="presOf" srcId="{56DEE44A-2A15-4C15-875E-D6A61D08C11B}" destId="{CF997BE2-8467-8943-842E-468B181EAB99}" srcOrd="0" destOrd="0" presId="urn:microsoft.com/office/officeart/2005/8/layout/vProcess5"/>
    <dgm:cxn modelId="{960A36D0-E79C-4B90-B166-A47312B79753}" srcId="{47007855-F7E4-4CA1-B399-8099EFA7EB74}" destId="{56DEE44A-2A15-4C15-875E-D6A61D08C11B}" srcOrd="1" destOrd="0" parTransId="{B2CCA0F9-10CD-4979-B883-20065BC4B468}" sibTransId="{7DF8BEC9-9EC5-4FCB-8E9D-91D10D4FDA22}"/>
    <dgm:cxn modelId="{B5D629E0-2802-F043-AC28-EC820ADA1424}" type="presOf" srcId="{66286C92-CC5D-4EB0-B7E4-46DA28BEC68F}" destId="{4C610171-9237-624F-B5F9-E74EE0CD7CCC}" srcOrd="0" destOrd="0" presId="urn:microsoft.com/office/officeart/2005/8/layout/vProcess5"/>
    <dgm:cxn modelId="{240416F6-A5AD-A04B-8DD5-58188EA7273B}" type="presOf" srcId="{15205DAB-5D4A-46CC-97DE-0A4F7B53EB61}" destId="{299BCE8D-F730-8A43-A932-4956F002FF5F}" srcOrd="1" destOrd="0" presId="urn:microsoft.com/office/officeart/2005/8/layout/vProcess5"/>
    <dgm:cxn modelId="{12054242-EA65-734D-A878-3640A12FBB5D}" type="presParOf" srcId="{684021C7-E243-564D-9A15-49A9C2F5417A}" destId="{074A6875-A251-AC4E-AF5F-62E2D732803A}" srcOrd="0" destOrd="0" presId="urn:microsoft.com/office/officeart/2005/8/layout/vProcess5"/>
    <dgm:cxn modelId="{E98E88B7-F89A-F145-B8A3-E8A0CFD42462}" type="presParOf" srcId="{684021C7-E243-564D-9A15-49A9C2F5417A}" destId="{57D17642-AE4B-9847-B9E5-38C473E7E7CD}" srcOrd="1" destOrd="0" presId="urn:microsoft.com/office/officeart/2005/8/layout/vProcess5"/>
    <dgm:cxn modelId="{0B986A3A-8B4C-8448-AB7E-2CB93499ACDC}" type="presParOf" srcId="{684021C7-E243-564D-9A15-49A9C2F5417A}" destId="{CF997BE2-8467-8943-842E-468B181EAB99}" srcOrd="2" destOrd="0" presId="urn:microsoft.com/office/officeart/2005/8/layout/vProcess5"/>
    <dgm:cxn modelId="{7209626D-8D21-F74E-81ED-AF6DA48EAC9D}" type="presParOf" srcId="{684021C7-E243-564D-9A15-49A9C2F5417A}" destId="{4C610171-9237-624F-B5F9-E74EE0CD7CCC}" srcOrd="3" destOrd="0" presId="urn:microsoft.com/office/officeart/2005/8/layout/vProcess5"/>
    <dgm:cxn modelId="{9CC28418-394B-2C4B-84D6-7093A938AF3E}" type="presParOf" srcId="{684021C7-E243-564D-9A15-49A9C2F5417A}" destId="{33BBDCA7-13DE-D841-97C5-4EB9BF91FE53}" srcOrd="4" destOrd="0" presId="urn:microsoft.com/office/officeart/2005/8/layout/vProcess5"/>
    <dgm:cxn modelId="{F49DB787-0FFC-7049-B728-D6EBBA870AAC}" type="presParOf" srcId="{684021C7-E243-564D-9A15-49A9C2F5417A}" destId="{51B5E0C6-F7C5-9846-A789-DDE29A9CABB7}" srcOrd="5" destOrd="0" presId="urn:microsoft.com/office/officeart/2005/8/layout/vProcess5"/>
    <dgm:cxn modelId="{459EBD89-FB02-F24C-9D75-258B8C929C62}" type="presParOf" srcId="{684021C7-E243-564D-9A15-49A9C2F5417A}" destId="{8FC94447-3ADF-444D-8D80-EF5E91455B63}" srcOrd="6" destOrd="0" presId="urn:microsoft.com/office/officeart/2005/8/layout/vProcess5"/>
    <dgm:cxn modelId="{BA9150F4-FF0A-7042-9170-A70C98158B3B}" type="presParOf" srcId="{684021C7-E243-564D-9A15-49A9C2F5417A}" destId="{C5B120F9-8843-DF42-B438-37E3002613FE}" srcOrd="7" destOrd="0" presId="urn:microsoft.com/office/officeart/2005/8/layout/vProcess5"/>
    <dgm:cxn modelId="{F654136C-3DBA-7845-8BF4-A610B6F7164B}" type="presParOf" srcId="{684021C7-E243-564D-9A15-49A9C2F5417A}" destId="{39C67077-9345-DD44-8A69-9A1D001A1F61}" srcOrd="8" destOrd="0" presId="urn:microsoft.com/office/officeart/2005/8/layout/vProcess5"/>
    <dgm:cxn modelId="{F9FBEF84-AF3D-4047-B99A-94F3A69A8C0A}" type="presParOf" srcId="{684021C7-E243-564D-9A15-49A9C2F5417A}" destId="{1DA43963-A724-854E-A9D7-999324FCF870}" srcOrd="9" destOrd="0" presId="urn:microsoft.com/office/officeart/2005/8/layout/vProcess5"/>
    <dgm:cxn modelId="{F878CF9F-F1F4-E647-B584-2C9E2DB83E6F}" type="presParOf" srcId="{684021C7-E243-564D-9A15-49A9C2F5417A}" destId="{EFC3D5DC-93E3-514E-A467-F76C2D231FF5}" srcOrd="10" destOrd="0" presId="urn:microsoft.com/office/officeart/2005/8/layout/vProcess5"/>
    <dgm:cxn modelId="{745E9EB6-CD99-AF43-BF5F-CA0F13F91472}" type="presParOf" srcId="{684021C7-E243-564D-9A15-49A9C2F5417A}" destId="{0F8460B4-AF01-D348-911D-58F0F81947CE}" srcOrd="11" destOrd="0" presId="urn:microsoft.com/office/officeart/2005/8/layout/vProcess5"/>
    <dgm:cxn modelId="{D0A47A09-90D0-4A44-853A-BC40C03FE9E9}" type="presParOf" srcId="{684021C7-E243-564D-9A15-49A9C2F5417A}" destId="{A13DD4C3-7F71-B246-8335-8E52B43ADCB4}" srcOrd="12" destOrd="0" presId="urn:microsoft.com/office/officeart/2005/8/layout/vProcess5"/>
    <dgm:cxn modelId="{ED4BD6A1-F0DC-C442-910F-6B7C948E2D9F}" type="presParOf" srcId="{684021C7-E243-564D-9A15-49A9C2F5417A}" destId="{299BCE8D-F730-8A43-A932-4956F002FF5F}" srcOrd="13" destOrd="0" presId="urn:microsoft.com/office/officeart/2005/8/layout/vProcess5"/>
    <dgm:cxn modelId="{A1D4D2E9-1A8F-B84C-8CBC-D79FB58C0630}" type="presParOf" srcId="{684021C7-E243-564D-9A15-49A9C2F5417A}" destId="{8E07EBFC-ABDC-EE4E-8393-FDDCA9302FDE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D17642-AE4B-9847-B9E5-38C473E7E7CD}">
      <dsp:nvSpPr>
        <dsp:cNvPr id="0" name=""/>
        <dsp:cNvSpPr/>
      </dsp:nvSpPr>
      <dsp:spPr>
        <a:xfrm>
          <a:off x="31100" y="0"/>
          <a:ext cx="7604150" cy="6998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 dirty="0" err="1"/>
            <a:t>Ingest</a:t>
          </a:r>
          <a:r>
            <a:rPr lang="it-IT" sz="1900" kern="1200" dirty="0"/>
            <a:t> live </a:t>
          </a:r>
          <a:r>
            <a:rPr lang="it-IT" sz="1900" kern="1200" dirty="0" err="1"/>
            <a:t>measurements</a:t>
          </a:r>
          <a:r>
            <a:rPr lang="it-IT" sz="1900" kern="1200" dirty="0"/>
            <a:t> from an </a:t>
          </a:r>
          <a:r>
            <a:rPr lang="it-IT" sz="1900" kern="1200" dirty="0" err="1"/>
            <a:t>external</a:t>
          </a:r>
          <a:r>
            <a:rPr lang="it-IT" sz="1900" kern="1200" dirty="0"/>
            <a:t> </a:t>
          </a:r>
          <a:r>
            <a:rPr lang="it-IT" sz="1900" kern="1200" dirty="0" err="1"/>
            <a:t>seismic</a:t>
          </a:r>
          <a:r>
            <a:rPr lang="it-IT" sz="1900" kern="1200" dirty="0"/>
            <a:t> simulator.</a:t>
          </a:r>
          <a:endParaRPr lang="en-US" sz="1900" kern="1200" dirty="0"/>
        </a:p>
      </dsp:txBody>
      <dsp:txXfrm>
        <a:off x="51599" y="20499"/>
        <a:ext cx="6767034" cy="658885"/>
      </dsp:txXfrm>
    </dsp:sp>
    <dsp:sp modelId="{CF997BE2-8467-8943-842E-468B181EAB99}">
      <dsp:nvSpPr>
        <dsp:cNvPr id="0" name=""/>
        <dsp:cNvSpPr/>
      </dsp:nvSpPr>
      <dsp:spPr>
        <a:xfrm>
          <a:off x="567842" y="797090"/>
          <a:ext cx="7604150" cy="6998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/>
            <a:t>Redistribute a normalized stream to replicated processing nodes</a:t>
          </a:r>
          <a:endParaRPr lang="en-US" sz="1900" kern="1200"/>
        </a:p>
      </dsp:txBody>
      <dsp:txXfrm>
        <a:off x="588341" y="817589"/>
        <a:ext cx="6540385" cy="658885"/>
      </dsp:txXfrm>
    </dsp:sp>
    <dsp:sp modelId="{4C610171-9237-624F-B5F9-E74EE0CD7CCC}">
      <dsp:nvSpPr>
        <dsp:cNvPr id="0" name=""/>
        <dsp:cNvSpPr/>
      </dsp:nvSpPr>
      <dsp:spPr>
        <a:xfrm>
          <a:off x="1135684" y="1594180"/>
          <a:ext cx="7604150" cy="6998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/>
            <a:t>Classify events through FFT-based frequency analysis.</a:t>
          </a:r>
          <a:endParaRPr lang="en-US" sz="1900" kern="1200"/>
        </a:p>
      </dsp:txBody>
      <dsp:txXfrm>
        <a:off x="1156183" y="1614679"/>
        <a:ext cx="6540385" cy="658885"/>
      </dsp:txXfrm>
    </dsp:sp>
    <dsp:sp modelId="{33BBDCA7-13DE-D841-97C5-4EB9BF91FE53}">
      <dsp:nvSpPr>
        <dsp:cNvPr id="0" name=""/>
        <dsp:cNvSpPr/>
      </dsp:nvSpPr>
      <dsp:spPr>
        <a:xfrm>
          <a:off x="1703527" y="2391270"/>
          <a:ext cx="7604150" cy="6998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/>
            <a:t>Persist consolidated results in PostgreSQL.</a:t>
          </a:r>
          <a:endParaRPr lang="en-US" sz="1900" kern="1200"/>
        </a:p>
      </dsp:txBody>
      <dsp:txXfrm>
        <a:off x="1724026" y="2411769"/>
        <a:ext cx="6540385" cy="658885"/>
      </dsp:txXfrm>
    </dsp:sp>
    <dsp:sp modelId="{51B5E0C6-F7C5-9846-A789-DDE29A9CABB7}">
      <dsp:nvSpPr>
        <dsp:cNvPr id="0" name=""/>
        <dsp:cNvSpPr/>
      </dsp:nvSpPr>
      <dsp:spPr>
        <a:xfrm>
          <a:off x="2271369" y="3188360"/>
          <a:ext cx="7604150" cy="6998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/>
            <a:t>Expose live and historical visibility through a single dashboard.</a:t>
          </a:r>
          <a:endParaRPr lang="en-US" sz="1900" kern="1200"/>
        </a:p>
      </dsp:txBody>
      <dsp:txXfrm>
        <a:off x="2291868" y="3208859"/>
        <a:ext cx="6540385" cy="658885"/>
      </dsp:txXfrm>
    </dsp:sp>
    <dsp:sp modelId="{8FC94447-3ADF-444D-8D80-EF5E91455B63}">
      <dsp:nvSpPr>
        <dsp:cNvPr id="0" name=""/>
        <dsp:cNvSpPr/>
      </dsp:nvSpPr>
      <dsp:spPr>
        <a:xfrm>
          <a:off x="7149225" y="511304"/>
          <a:ext cx="454924" cy="45492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7251583" y="511304"/>
        <a:ext cx="250208" cy="342330"/>
      </dsp:txXfrm>
    </dsp:sp>
    <dsp:sp modelId="{C5B120F9-8843-DF42-B438-37E3002613FE}">
      <dsp:nvSpPr>
        <dsp:cNvPr id="0" name=""/>
        <dsp:cNvSpPr/>
      </dsp:nvSpPr>
      <dsp:spPr>
        <a:xfrm>
          <a:off x="7717068" y="1308394"/>
          <a:ext cx="454924" cy="45492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7819426" y="1308394"/>
        <a:ext cx="250208" cy="342330"/>
      </dsp:txXfrm>
    </dsp:sp>
    <dsp:sp modelId="{39C67077-9345-DD44-8A69-9A1D001A1F61}">
      <dsp:nvSpPr>
        <dsp:cNvPr id="0" name=""/>
        <dsp:cNvSpPr/>
      </dsp:nvSpPr>
      <dsp:spPr>
        <a:xfrm>
          <a:off x="8284910" y="2093819"/>
          <a:ext cx="454924" cy="45492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8387268" y="2093819"/>
        <a:ext cx="250208" cy="342330"/>
      </dsp:txXfrm>
    </dsp:sp>
    <dsp:sp modelId="{1DA43963-A724-854E-A9D7-999324FCF870}">
      <dsp:nvSpPr>
        <dsp:cNvPr id="0" name=""/>
        <dsp:cNvSpPr/>
      </dsp:nvSpPr>
      <dsp:spPr>
        <a:xfrm>
          <a:off x="8852753" y="2898685"/>
          <a:ext cx="454924" cy="45492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8955111" y="2898685"/>
        <a:ext cx="250208" cy="3423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57128" y="420624"/>
            <a:ext cx="350397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sz="1600" dirty="0" err="1">
                <a:solidFill>
                  <a:srgbClr val="804A35"/>
                </a:solidFill>
                <a:latin typeface="Aptos"/>
              </a:rPr>
              <a:t>Laboratory</a:t>
            </a:r>
            <a:r>
              <a:rPr lang="it-IT" sz="1600" dirty="0">
                <a:solidFill>
                  <a:srgbClr val="804A35"/>
                </a:solidFill>
                <a:latin typeface="Aptos"/>
              </a:rPr>
              <a:t> of Advanced Programming</a:t>
            </a:r>
            <a:endParaRPr sz="1600" dirty="0">
              <a:solidFill>
                <a:srgbClr val="804A35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851233"/>
            <a:ext cx="92152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>
                <a:solidFill>
                  <a:srgbClr val="1D1D1D"/>
                </a:solidFill>
                <a:latin typeface="Georgia"/>
              </a:rPr>
              <a:t>Distributed Fault-Tolerant Seismic Analysis Platform</a:t>
            </a:r>
            <a:endParaRPr lang="it-IT" sz="2400" b="1" dirty="0">
              <a:solidFill>
                <a:srgbClr val="1D1D1D"/>
              </a:solidFill>
              <a:latin typeface="Georgia"/>
            </a:endParaRPr>
          </a:p>
          <a:p>
            <a:r>
              <a:rPr lang="it-IT" dirty="0">
                <a:solidFill>
                  <a:srgbClr val="1D1D1D"/>
                </a:solidFill>
                <a:latin typeface="Georgia"/>
              </a:rPr>
              <a:t>By </a:t>
            </a:r>
            <a:r>
              <a:rPr lang="it-IT" b="1" dirty="0">
                <a:solidFill>
                  <a:srgbClr val="1D1D1D"/>
                </a:solidFill>
                <a:latin typeface="Georgia"/>
              </a:rPr>
              <a:t>LTM</a:t>
            </a:r>
            <a:r>
              <a:rPr lang="it-IT" dirty="0">
                <a:solidFill>
                  <a:srgbClr val="1D1D1D"/>
                </a:solidFill>
                <a:latin typeface="Georgia"/>
              </a:rPr>
              <a:t> group</a:t>
            </a:r>
            <a:endParaRPr dirty="0">
              <a:solidFill>
                <a:srgbClr val="1D1D1D"/>
              </a:solidFill>
              <a:latin typeface="Georgia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038098-75A2-7C5C-7E15-851E06C37104}"/>
              </a:ext>
            </a:extLst>
          </p:cNvPr>
          <p:cNvSpPr/>
          <p:nvPr/>
        </p:nvSpPr>
        <p:spPr>
          <a:xfrm>
            <a:off x="321395" y="346067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AB5140C-F2C1-1FE1-02E4-F5F195A5B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6082" y="1428302"/>
            <a:ext cx="4536798" cy="488156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F2BD54-195F-907E-1B8F-FA2B8E99C565}"/>
              </a:ext>
            </a:extLst>
          </p:cNvPr>
          <p:cNvSpPr txBox="1"/>
          <p:nvPr/>
        </p:nvSpPr>
        <p:spPr>
          <a:xfrm>
            <a:off x="548640" y="4280645"/>
            <a:ext cx="418619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Students:</a:t>
            </a:r>
          </a:p>
          <a:p>
            <a:r>
              <a:rPr lang="it-IT" b="1" dirty="0"/>
              <a:t>Giorgini Tommaso </a:t>
            </a:r>
            <a:r>
              <a:rPr lang="it-IT" dirty="0"/>
              <a:t>1998519                 </a:t>
            </a:r>
            <a:r>
              <a:rPr lang="it-IT" b="1" dirty="0" err="1"/>
              <a:t>Maucione</a:t>
            </a:r>
            <a:r>
              <a:rPr lang="it-IT" b="1" dirty="0"/>
              <a:t> Mattia</a:t>
            </a:r>
            <a:r>
              <a:rPr lang="it-IT" dirty="0"/>
              <a:t> 2007209                 </a:t>
            </a:r>
            <a:r>
              <a:rPr lang="it-IT" b="1" dirty="0"/>
              <a:t>Balducci Lorenzo </a:t>
            </a:r>
            <a:r>
              <a:rPr lang="it-IT" dirty="0"/>
              <a:t>1993639</a:t>
            </a:r>
          </a:p>
          <a:p>
            <a:r>
              <a:rPr lang="it-IT" dirty="0" err="1"/>
              <a:t>Submitted</a:t>
            </a:r>
            <a:r>
              <a:rPr lang="it-IT" dirty="0"/>
              <a:t> to:</a:t>
            </a:r>
          </a:p>
          <a:p>
            <a:r>
              <a:rPr lang="it-IT" dirty="0"/>
              <a:t>Prof. </a:t>
            </a:r>
            <a:r>
              <a:rPr lang="it-IT" b="1" dirty="0"/>
              <a:t>Mecella Massimo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E33B8A0-6270-C8CE-8E6D-181F98C33E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6937" y="-10500"/>
            <a:ext cx="2935063" cy="121934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39496"/>
            <a:ext cx="144623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sz="2800" dirty="0">
                <a:solidFill>
                  <a:srgbClr val="1D1D1D"/>
                </a:solidFill>
                <a:latin typeface="Georgia"/>
              </a:rPr>
              <a:t>Mission</a:t>
            </a:r>
            <a:endParaRPr sz="2800" b="0" dirty="0">
              <a:solidFill>
                <a:srgbClr val="1D1D1D"/>
              </a:solidFill>
              <a:latin typeface="Georg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9875520" cy="336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endParaRPr lang="it-IT" sz="1900" dirty="0">
              <a:solidFill>
                <a:srgbClr val="1D1D1D"/>
              </a:solidFill>
              <a:latin typeface="Aptos"/>
            </a:endParaRP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it-IT" sz="1900" dirty="0" err="1">
                <a:solidFill>
                  <a:srgbClr val="1D1D1D"/>
                </a:solidFill>
                <a:latin typeface="Aptos"/>
              </a:rPr>
              <a:t>Raw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seismic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streams alone do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not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support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operational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decision-making.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endParaRPr lang="it-IT" sz="1900" dirty="0">
              <a:solidFill>
                <a:srgbClr val="1D1D1D"/>
              </a:solidFill>
              <a:latin typeface="Aptos"/>
            </a:endParaRP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it-IT" sz="1900" dirty="0" err="1">
                <a:solidFill>
                  <a:srgbClr val="1D1D1D"/>
                </a:solidFill>
                <a:latin typeface="Aptos"/>
              </a:rPr>
              <a:t>Our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platform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transforms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continuous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seismic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data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into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immediate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operational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value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by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detecting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suspicious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activity in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real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time,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classifying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it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consistently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, and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preserving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every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relevant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event for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later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investigation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endParaRPr lang="it-IT" sz="1900" dirty="0">
              <a:solidFill>
                <a:srgbClr val="1D1D1D"/>
              </a:solidFill>
              <a:latin typeface="Aptos"/>
            </a:endParaRP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it-IT" sz="1900" dirty="0" err="1">
                <a:solidFill>
                  <a:srgbClr val="1D1D1D"/>
                </a:solidFill>
                <a:latin typeface="Aptos"/>
              </a:rPr>
              <a:t>Even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when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one or more processing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nodes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become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unavailable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, the system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continues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to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deliver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insights,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historical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visibility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, and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reliable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monitoring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continuity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.</a:t>
            </a:r>
            <a:endParaRPr sz="1900" dirty="0">
              <a:solidFill>
                <a:srgbClr val="1D1D1D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ECB888-2164-383D-615B-7BC5D5D74D73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39496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Project Goal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dirty="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C87390-4622-BA71-FC60-F92CB2565E29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0" name="TextBox 3">
            <a:extLst>
              <a:ext uri="{FF2B5EF4-FFF2-40B4-BE49-F238E27FC236}">
                <a16:creationId xmlns:a16="http://schemas.microsoft.com/office/drawing/2014/main" id="{405274D0-38FC-B11B-3DE6-881C509B68D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42852059"/>
              </p:ext>
            </p:extLst>
          </p:nvPr>
        </p:nvGraphicFramePr>
        <p:xfrm>
          <a:off x="868680" y="1645920"/>
          <a:ext cx="9875520" cy="38882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12064" y="460398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System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2064" y="2827628"/>
            <a:ext cx="2011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3504" y="3047084"/>
            <a:ext cx="18288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dirty="0">
                <a:solidFill>
                  <a:srgbClr val="24303B"/>
                </a:solidFill>
                <a:latin typeface="Aptos"/>
              </a:rPr>
              <a:t>External</a:t>
            </a:r>
          </a:p>
          <a:p>
            <a:pPr algn="ctr"/>
            <a:r>
              <a:rPr sz="1600" b="1" dirty="0">
                <a:solidFill>
                  <a:srgbClr val="24303B"/>
                </a:solidFill>
                <a:latin typeface="Aptos"/>
              </a:rPr>
              <a:t>Simulator</a:t>
            </a:r>
          </a:p>
        </p:txBody>
      </p:sp>
      <p:sp>
        <p:nvSpPr>
          <p:cNvPr id="6" name="Chevron 5"/>
          <p:cNvSpPr/>
          <p:nvPr/>
        </p:nvSpPr>
        <p:spPr>
          <a:xfrm>
            <a:off x="2551176" y="3129380"/>
            <a:ext cx="301752" cy="438912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52928" y="2827628"/>
            <a:ext cx="2011680" cy="105156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62863" y="3013628"/>
            <a:ext cx="991811" cy="61555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lang="it-IT" b="1" dirty="0">
                <a:solidFill>
                  <a:srgbClr val="24303B"/>
                </a:solidFill>
                <a:latin typeface="Aptos"/>
              </a:rPr>
              <a:t>Fan-out</a:t>
            </a:r>
            <a:endParaRPr sz="1800" b="1" dirty="0">
              <a:solidFill>
                <a:srgbClr val="24303B"/>
              </a:solidFill>
              <a:latin typeface="Aptos"/>
            </a:endParaRPr>
          </a:p>
          <a:p>
            <a:pPr algn="ctr"/>
            <a:r>
              <a:rPr sz="1600" b="1" dirty="0">
                <a:solidFill>
                  <a:srgbClr val="24303B"/>
                </a:solidFill>
                <a:latin typeface="Aptos"/>
              </a:rPr>
              <a:t>Broker</a:t>
            </a:r>
          </a:p>
        </p:txBody>
      </p:sp>
      <p:sp>
        <p:nvSpPr>
          <p:cNvPr id="9" name="Chevron 8"/>
          <p:cNvSpPr/>
          <p:nvPr/>
        </p:nvSpPr>
        <p:spPr>
          <a:xfrm>
            <a:off x="4892040" y="3129380"/>
            <a:ext cx="301752" cy="438912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193792" y="2827628"/>
            <a:ext cx="2011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85232" y="3047084"/>
            <a:ext cx="18288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dirty="0">
                <a:solidFill>
                  <a:srgbClr val="24303B"/>
                </a:solidFill>
                <a:latin typeface="Aptos"/>
              </a:rPr>
              <a:t>Processing</a:t>
            </a:r>
          </a:p>
          <a:p>
            <a:pPr algn="ctr"/>
            <a:r>
              <a:rPr sz="1600" b="1" dirty="0">
                <a:solidFill>
                  <a:srgbClr val="24303B"/>
                </a:solidFill>
                <a:latin typeface="Aptos"/>
              </a:rPr>
              <a:t>Replicas x5</a:t>
            </a:r>
          </a:p>
        </p:txBody>
      </p:sp>
      <p:sp>
        <p:nvSpPr>
          <p:cNvPr id="12" name="Chevron 11"/>
          <p:cNvSpPr/>
          <p:nvPr/>
        </p:nvSpPr>
        <p:spPr>
          <a:xfrm>
            <a:off x="7232904" y="3129380"/>
            <a:ext cx="301752" cy="438912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534656" y="2827628"/>
            <a:ext cx="2011680" cy="105156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60232" y="3155026"/>
            <a:ext cx="1096518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dirty="0">
                <a:solidFill>
                  <a:srgbClr val="24303B"/>
                </a:solidFill>
                <a:latin typeface="Aptos"/>
              </a:rPr>
              <a:t>Gateway</a:t>
            </a:r>
          </a:p>
        </p:txBody>
      </p:sp>
      <p:sp>
        <p:nvSpPr>
          <p:cNvPr id="15" name="Chevron 14"/>
          <p:cNvSpPr/>
          <p:nvPr/>
        </p:nvSpPr>
        <p:spPr>
          <a:xfrm>
            <a:off x="9573768" y="3129380"/>
            <a:ext cx="301752" cy="438912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875520" y="2840507"/>
            <a:ext cx="2011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966960" y="3047084"/>
            <a:ext cx="18288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24303B"/>
                </a:solidFill>
                <a:latin typeface="Aptos"/>
              </a:rPr>
              <a:t>React</a:t>
            </a:r>
          </a:p>
          <a:p>
            <a:pPr algn="ctr"/>
            <a:r>
              <a:rPr sz="1600" b="1">
                <a:solidFill>
                  <a:srgbClr val="24303B"/>
                </a:solidFill>
                <a:latin typeface="Aptos"/>
              </a:rPr>
              <a:t>Dashboard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18410C-21B4-AF5F-A5AB-CCCFCCD625E3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EDE8C591-507D-F739-0E72-A5CCCAEE9C23}"/>
              </a:ext>
            </a:extLst>
          </p:cNvPr>
          <p:cNvSpPr/>
          <p:nvPr/>
        </p:nvSpPr>
        <p:spPr>
          <a:xfrm>
            <a:off x="7534655" y="4318100"/>
            <a:ext cx="2011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 err="1">
                <a:solidFill>
                  <a:srgbClr val="24303B"/>
                </a:solidFill>
                <a:latin typeface="Aptos"/>
              </a:rPr>
              <a:t>PostgreSQL</a:t>
            </a:r>
            <a:endParaRPr dirty="0"/>
          </a:p>
        </p:txBody>
      </p:sp>
      <p:sp>
        <p:nvSpPr>
          <p:cNvPr id="18" name="Chevron 11">
            <a:extLst>
              <a:ext uri="{FF2B5EF4-FFF2-40B4-BE49-F238E27FC236}">
                <a16:creationId xmlns:a16="http://schemas.microsoft.com/office/drawing/2014/main" id="{1705FF74-E04D-2DA9-6606-C6E96E611B11}"/>
              </a:ext>
            </a:extLst>
          </p:cNvPr>
          <p:cNvSpPr/>
          <p:nvPr/>
        </p:nvSpPr>
        <p:spPr>
          <a:xfrm rot="5400000">
            <a:off x="8381632" y="3879188"/>
            <a:ext cx="253717" cy="438912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438912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Implemented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D992E4-49B1-BD0A-89DA-1CA6D68C32AC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37477BF0-C3CE-0E79-AC2D-A39D14DB0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7275"/>
            <a:ext cx="11355972" cy="45634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6915" y="222782"/>
            <a:ext cx="336731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End-to-End Runtime Data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F9C23E-D39C-8FB0-2000-11FCB4595181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A93829C-EE65-96EC-32C2-AA30EAEB0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2608" y="91440"/>
            <a:ext cx="7395952" cy="63276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ounded Rectangle 42"/>
          <p:cNvSpPr/>
          <p:nvPr/>
        </p:nvSpPr>
        <p:spPr>
          <a:xfrm>
            <a:off x="3749039" y="4722742"/>
            <a:ext cx="7315200" cy="6400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71405" y="326843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>
                <a:solidFill>
                  <a:srgbClr val="1D1D1D"/>
                </a:solidFill>
                <a:latin typeface="Georgia"/>
              </a:rPr>
              <a:t>Services and Communication Protocols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24126"/>
            <a:ext cx="2743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87552" y="1393395"/>
            <a:ext cx="1695336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Simulator </a:t>
            </a:r>
            <a:r>
              <a:rPr lang="it-IT" sz="1300" b="1" dirty="0">
                <a:solidFill>
                  <a:srgbClr val="24303B"/>
                </a:solidFill>
                <a:latin typeface="Aptos"/>
                <a:sym typeface="Wingdings" pitchFamily="2" charset="2"/>
              </a:rPr>
              <a:t>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Broker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1635606"/>
            <a:ext cx="2414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39" y="1224126"/>
            <a:ext cx="7315200" cy="6400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13631" y="1333854"/>
            <a:ext cx="6986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HTTP sensor discovery + per-sensor WebSocket streams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13631" y="1635606"/>
            <a:ext cx="6986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1919070"/>
            <a:ext cx="2743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083771"/>
            <a:ext cx="1817998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Simulator </a:t>
            </a:r>
            <a:r>
              <a:rPr lang="it-IT" sz="1300" b="1" dirty="0">
                <a:solidFill>
                  <a:srgbClr val="24303B"/>
                </a:solidFill>
                <a:latin typeface="Aptos"/>
                <a:sym typeface="Wingdings" pitchFamily="2" charset="2"/>
              </a:rPr>
              <a:t>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Replicas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330550"/>
            <a:ext cx="2414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749039" y="1919070"/>
            <a:ext cx="7315200" cy="6400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13631" y="2094390"/>
            <a:ext cx="6986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SSE control stream for graceful shutdown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3631" y="2330550"/>
            <a:ext cx="6986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2614014"/>
            <a:ext cx="2743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2796894"/>
            <a:ext cx="1572418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Broker </a:t>
            </a:r>
            <a:r>
              <a:rPr lang="it-IT" sz="1300" b="1" dirty="0">
                <a:solidFill>
                  <a:srgbClr val="24303B"/>
                </a:solidFill>
                <a:latin typeface="Aptos"/>
                <a:sym typeface="Wingdings" pitchFamily="2" charset="2"/>
              </a:rPr>
              <a:t>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Replicas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025494"/>
            <a:ext cx="2414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749039" y="2614014"/>
            <a:ext cx="7315200" cy="6400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13631" y="2796894"/>
            <a:ext cx="6986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WebSocket fan-out on /</a:t>
            </a:r>
            <a:r>
              <a:rPr sz="1300" b="1" dirty="0" err="1">
                <a:solidFill>
                  <a:srgbClr val="24303B"/>
                </a:solidFill>
                <a:latin typeface="Aptos"/>
              </a:rPr>
              <a:t>ws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/ingest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13631" y="3025494"/>
            <a:ext cx="6986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22960" y="3308957"/>
            <a:ext cx="2743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7552" y="3720438"/>
            <a:ext cx="2414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749039" y="3308957"/>
            <a:ext cx="7315200" cy="6400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913631" y="3720438"/>
            <a:ext cx="6986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32104" y="4003902"/>
            <a:ext cx="2743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9593" y="3488870"/>
            <a:ext cx="1733295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sz="1300" b="1" dirty="0" err="1">
                <a:solidFill>
                  <a:srgbClr val="24303B"/>
                </a:solidFill>
                <a:latin typeface="Aptos"/>
              </a:rPr>
              <a:t>Replicas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</a:t>
            </a:r>
            <a:r>
              <a:rPr lang="it-IT" sz="1300" b="1" dirty="0">
                <a:solidFill>
                  <a:srgbClr val="24303B"/>
                </a:solidFill>
                <a:latin typeface="Aptos"/>
                <a:sym typeface="Wingdings" pitchFamily="2" charset="2"/>
              </a:rPr>
              <a:t>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4415382"/>
            <a:ext cx="2414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749039" y="3981041"/>
            <a:ext cx="7315200" cy="6400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3913631" y="3504379"/>
            <a:ext cx="6986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HTTP POST /</a:t>
            </a:r>
            <a:r>
              <a:rPr sz="1300" b="1" dirty="0" err="1">
                <a:solidFill>
                  <a:srgbClr val="24303B"/>
                </a:solidFill>
                <a:latin typeface="Aptos"/>
              </a:rPr>
              <a:t>api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/events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4698845"/>
            <a:ext cx="2743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87552" y="4869593"/>
            <a:ext cx="175977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Gateway </a:t>
            </a:r>
            <a:r>
              <a:rPr lang="it-IT" sz="1300" b="1" dirty="0">
                <a:solidFill>
                  <a:srgbClr val="24303B"/>
                </a:solidFill>
                <a:latin typeface="Aptos"/>
                <a:sym typeface="Wingdings" pitchFamily="2" charset="2"/>
              </a:rPr>
              <a:t>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Frontend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5110325"/>
            <a:ext cx="2414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749039" y="5423856"/>
            <a:ext cx="7315200" cy="6400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868336" y="4912770"/>
            <a:ext cx="6986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REST APIs + WebSocket /</a:t>
            </a:r>
            <a:r>
              <a:rPr sz="1300" b="1" dirty="0" err="1">
                <a:solidFill>
                  <a:srgbClr val="24303B"/>
                </a:solidFill>
                <a:latin typeface="Aptos"/>
              </a:rPr>
              <a:t>ws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/live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13631" y="5110325"/>
            <a:ext cx="6986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822960" y="5393789"/>
            <a:ext cx="2743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87552" y="5558490"/>
            <a:ext cx="1733295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Gateway </a:t>
            </a:r>
            <a:r>
              <a:rPr lang="it-IT" sz="1300" b="1" dirty="0">
                <a:solidFill>
                  <a:srgbClr val="24303B"/>
                </a:solidFill>
                <a:latin typeface="Aptos"/>
                <a:sym typeface="Wingdings" pitchFamily="2" charset="2"/>
              </a:rPr>
              <a:t>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Replicas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" y="5805269"/>
            <a:ext cx="2414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868336" y="5623069"/>
            <a:ext cx="6986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Periodic GET /health polling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13631" y="5805269"/>
            <a:ext cx="6986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7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9EC23C5-23B4-BD9B-02B3-C9A937042584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22">
            <a:extLst>
              <a:ext uri="{FF2B5EF4-FFF2-40B4-BE49-F238E27FC236}">
                <a16:creationId xmlns:a16="http://schemas.microsoft.com/office/drawing/2014/main" id="{FEC06C9E-BF12-0740-6706-114FCB43D15B}"/>
              </a:ext>
            </a:extLst>
          </p:cNvPr>
          <p:cNvSpPr txBox="1"/>
          <p:nvPr/>
        </p:nvSpPr>
        <p:spPr>
          <a:xfrm>
            <a:off x="949593" y="4177271"/>
            <a:ext cx="195636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sz="1300" b="1" dirty="0">
                <a:solidFill>
                  <a:srgbClr val="24303B"/>
                </a:solidFill>
                <a:latin typeface="Aptos"/>
              </a:rPr>
              <a:t>Gateway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</a:t>
            </a:r>
            <a:r>
              <a:rPr lang="it-IT" sz="1300" b="1" dirty="0">
                <a:solidFill>
                  <a:srgbClr val="24303B"/>
                </a:solidFill>
                <a:latin typeface="Aptos"/>
                <a:sym typeface="Wingdings" pitchFamily="2" charset="2"/>
              </a:rPr>
              <a:t>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PostgreSQL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68336" y="4160982"/>
            <a:ext cx="3486852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SQL writes </a:t>
            </a:r>
            <a:r>
              <a:rPr lang="it-IT" sz="1300" b="1" dirty="0">
                <a:solidFill>
                  <a:srgbClr val="24303B"/>
                </a:solidFill>
                <a:latin typeface="Aptos"/>
              </a:rPr>
              <a:t>and </a:t>
            </a:r>
            <a:r>
              <a:rPr lang="it-IT" sz="1300" b="1" dirty="0" err="1">
                <a:solidFill>
                  <a:srgbClr val="24303B"/>
                </a:solidFill>
                <a:latin typeface="Aptos"/>
              </a:rPr>
              <a:t>reads</a:t>
            </a:r>
            <a:r>
              <a:rPr lang="it-IT" sz="1300" b="1" dirty="0">
                <a:solidFill>
                  <a:srgbClr val="24303B"/>
                </a:solidFill>
                <a:latin typeface="Aptos"/>
              </a:rPr>
              <a:t> 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for sensors and events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475487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Internal Event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0749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08176" y="1581911"/>
            <a:ext cx="47457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Measurement envelope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1874520"/>
            <a:ext cx="4745736" cy="3995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080760" y="1463040"/>
            <a:ext cx="49834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84264" y="1581911"/>
            <a:ext cx="4654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Detected event envelope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1874520"/>
            <a:ext cx="4654296" cy="3995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05840" y="1874519"/>
            <a:ext cx="4709160" cy="3749039"/>
          </a:xfrm>
          <a:prstGeom prst="roundRect">
            <a:avLst/>
          </a:prstGeom>
          <a:solidFill>
            <a:srgbClr val="26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0432" y="2029968"/>
            <a:ext cx="43891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sensor_id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"sensor-08",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sensor_name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"DC North 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Perimeter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category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"datacenter",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region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"Replica Datacenter",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coordinates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{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latitude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45.4642,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longitude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9.19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},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measurement_unit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"mm/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sampling_rate_hz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20.0,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timestamp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"2026-03-25T00:00:00.000000+00:00",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value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0.123456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}</a:t>
            </a:r>
            <a:endParaRPr sz="1200" dirty="0">
              <a:solidFill>
                <a:srgbClr val="E1E8E0"/>
              </a:solidFill>
              <a:latin typeface="Courier New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63640" y="1874519"/>
            <a:ext cx="4709160" cy="3749039"/>
          </a:xfrm>
          <a:prstGeom prst="roundRect">
            <a:avLst/>
          </a:prstGeom>
          <a:solidFill>
            <a:srgbClr val="26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1" y="2029968"/>
            <a:ext cx="438912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event_id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"sha256(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sensor_id|timestamp|event_type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)",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sensor_id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"sensor-08",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sensor_name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"DC North 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Perimeter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category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"datacenter",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region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"Replica Datacenter",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coordinates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{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latitude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45.4642,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longitude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9.19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},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measurement_unit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"mm/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event_type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earthquake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last_sample_timestamp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"2026-03-25T00:00:09.950000+00:00",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peak_frequency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1.6,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peak_amplitude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4.0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}</a:t>
            </a:r>
            <a:endParaRPr sz="1200" dirty="0">
              <a:solidFill>
                <a:srgbClr val="E1E8E0"/>
              </a:solidFill>
              <a:latin typeface="Courier New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14C6414-281F-F6AE-4DF6-272338A7A62E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8138" y="483059"/>
            <a:ext cx="496963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sz="2800" b="0" dirty="0">
                <a:solidFill>
                  <a:srgbClr val="1D1D1D"/>
                </a:solidFill>
                <a:latin typeface="Georgia"/>
              </a:rPr>
              <a:t>Broker </a:t>
            </a:r>
            <a:r>
              <a:rPr lang="it-IT" sz="2800" b="0" dirty="0" err="1">
                <a:solidFill>
                  <a:srgbClr val="1D1D1D"/>
                </a:solidFill>
                <a:latin typeface="Georgia"/>
              </a:rPr>
              <a:t>Ingestion</a:t>
            </a:r>
            <a:r>
              <a:rPr lang="it-IT" sz="2800" b="0" dirty="0">
                <a:solidFill>
                  <a:srgbClr val="1D1D1D"/>
                </a:solidFill>
                <a:latin typeface="Georgia"/>
              </a:rPr>
              <a:t> and Fan-Out</a:t>
            </a:r>
            <a:endParaRPr sz="2800" b="0" dirty="0">
              <a:solidFill>
                <a:srgbClr val="1D1D1D"/>
              </a:solidFill>
              <a:latin typeface="Georgia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2813107"/>
            <a:ext cx="2468880" cy="17531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39" y="2925293"/>
            <a:ext cx="2139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39" y="3227045"/>
            <a:ext cx="213969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rgbClr val="1D1D1D"/>
                </a:solidFill>
                <a:latin typeface="Aptos"/>
              </a:rPr>
              <a:t>The broker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discovers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available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sensors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from the simulator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through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GET /api/devices/</a:t>
            </a:r>
            <a:endParaRPr sz="1400" dirty="0">
              <a:solidFill>
                <a:srgbClr val="1D1D1D"/>
              </a:solidFill>
              <a:latin typeface="Aptos"/>
            </a:endParaRPr>
          </a:p>
        </p:txBody>
      </p:sp>
      <p:sp>
        <p:nvSpPr>
          <p:cNvPr id="7" name="Chevron 6"/>
          <p:cNvSpPr/>
          <p:nvPr/>
        </p:nvSpPr>
        <p:spPr>
          <a:xfrm>
            <a:off x="3149493" y="3497646"/>
            <a:ext cx="256032" cy="384048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412997" y="2813107"/>
            <a:ext cx="2468880" cy="17531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23309" y="2921262"/>
            <a:ext cx="2139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Step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3309" y="3223014"/>
            <a:ext cx="213969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solidFill>
                  <a:srgbClr val="1D1D1D"/>
                </a:solidFill>
                <a:latin typeface="Aptos"/>
              </a:rPr>
              <a:t>It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opens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one upstream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WebSocket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stream for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each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sensor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and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continuously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receives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raw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seismic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samples.</a:t>
            </a:r>
            <a:endParaRPr sz="1400" dirty="0">
              <a:solidFill>
                <a:srgbClr val="1D1D1D"/>
              </a:solidFill>
              <a:latin typeface="Aptos"/>
            </a:endParaRPr>
          </a:p>
        </p:txBody>
      </p:sp>
      <p:sp>
        <p:nvSpPr>
          <p:cNvPr id="11" name="Chevron 10"/>
          <p:cNvSpPr/>
          <p:nvPr/>
        </p:nvSpPr>
        <p:spPr>
          <a:xfrm>
            <a:off x="5924698" y="3497646"/>
            <a:ext cx="256032" cy="384048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01918" y="2813106"/>
            <a:ext cx="2468880" cy="175312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66510" y="2922835"/>
            <a:ext cx="2139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Step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3379" y="3233271"/>
            <a:ext cx="2304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solidFill>
                  <a:srgbClr val="1D1D1D"/>
                </a:solidFill>
                <a:latin typeface="Aptos"/>
              </a:rPr>
              <a:t>Each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sample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is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normalized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into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a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shared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measurement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envelope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enriched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with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sensor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metadata and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timestamps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.</a:t>
            </a:r>
            <a:endParaRPr sz="1400" dirty="0">
              <a:solidFill>
                <a:srgbClr val="1D1D1D"/>
              </a:solidFill>
              <a:latin typeface="Aptos"/>
            </a:endParaRPr>
          </a:p>
        </p:txBody>
      </p:sp>
      <p:sp>
        <p:nvSpPr>
          <p:cNvPr id="15" name="Chevron 14"/>
          <p:cNvSpPr/>
          <p:nvPr/>
        </p:nvSpPr>
        <p:spPr>
          <a:xfrm>
            <a:off x="8714847" y="3543054"/>
            <a:ext cx="256032" cy="384048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969207" y="2813107"/>
            <a:ext cx="2468880" cy="17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20083" y="2922835"/>
            <a:ext cx="2139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Step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0083" y="3224587"/>
            <a:ext cx="213969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rgbClr val="1D1D1D"/>
                </a:solidFill>
                <a:latin typeface="Aptos"/>
              </a:rPr>
              <a:t>The broker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broadcasts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the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same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envelope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to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every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connected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replica,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enabling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parallel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fault-</a:t>
            </a:r>
            <a:r>
              <a:rPr lang="it-IT" sz="1400" dirty="0" err="1">
                <a:solidFill>
                  <a:srgbClr val="1D1D1D"/>
                </a:solidFill>
                <a:latin typeface="Aptos"/>
              </a:rPr>
              <a:t>tolerant</a:t>
            </a:r>
            <a:r>
              <a:rPr lang="it-IT" sz="1400" dirty="0">
                <a:solidFill>
                  <a:srgbClr val="1D1D1D"/>
                </a:solidFill>
                <a:latin typeface="Aptos"/>
              </a:rPr>
              <a:t> processing.</a:t>
            </a:r>
            <a:endParaRPr sz="1400" dirty="0">
              <a:solidFill>
                <a:srgbClr val="1D1D1D"/>
              </a:solidFill>
              <a:latin typeface="Apto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BC33AAD-AB1B-A2B1-841C-E781C408CAAD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4531" y="501068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Replicated Processing and Fault Tolerance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10611" y="3096112"/>
            <a:ext cx="1645920" cy="822960"/>
          </a:xfrm>
          <a:prstGeom prst="roundRect">
            <a:avLst/>
          </a:prstGeom>
          <a:solidFill>
            <a:srgbClr val="E9DFD6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93491" y="3352144"/>
            <a:ext cx="1234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latin typeface="Aptos"/>
              </a:rPr>
              <a:t>Broker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5210" y="3093949"/>
            <a:ext cx="1463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2370" y="33499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Replica 1</a:t>
            </a:r>
          </a:p>
        </p:txBody>
      </p:sp>
      <p:sp>
        <p:nvSpPr>
          <p:cNvPr id="8" name="Chevron 7"/>
          <p:cNvSpPr/>
          <p:nvPr/>
        </p:nvSpPr>
        <p:spPr>
          <a:xfrm>
            <a:off x="4312721" y="3360501"/>
            <a:ext cx="228600" cy="320040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19110" y="1947672"/>
            <a:ext cx="1463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2856270" y="2180844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Replica 2</a:t>
            </a:r>
          </a:p>
        </p:txBody>
      </p:sp>
      <p:sp>
        <p:nvSpPr>
          <p:cNvPr id="11" name="Chevron 10"/>
          <p:cNvSpPr/>
          <p:nvPr/>
        </p:nvSpPr>
        <p:spPr>
          <a:xfrm rot="16200000">
            <a:off x="3296411" y="2760684"/>
            <a:ext cx="228600" cy="320040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32960" y="3150976"/>
            <a:ext cx="1463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70120" y="342900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latin typeface="Aptos"/>
              </a:rPr>
              <a:t>Replica 3</a:t>
            </a:r>
          </a:p>
        </p:txBody>
      </p:sp>
      <p:sp>
        <p:nvSpPr>
          <p:cNvPr id="14" name="Chevron 13"/>
          <p:cNvSpPr/>
          <p:nvPr/>
        </p:nvSpPr>
        <p:spPr>
          <a:xfrm rot="10800000">
            <a:off x="2325131" y="3360500"/>
            <a:ext cx="228600" cy="320040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987590" y="4286866"/>
            <a:ext cx="1463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93052" y="4527395"/>
            <a:ext cx="10389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Replica 5</a:t>
            </a:r>
          </a:p>
        </p:txBody>
      </p:sp>
      <p:sp>
        <p:nvSpPr>
          <p:cNvPr id="17" name="Chevron 16"/>
          <p:cNvSpPr/>
          <p:nvPr/>
        </p:nvSpPr>
        <p:spPr>
          <a:xfrm rot="5400000">
            <a:off x="3893821" y="3934460"/>
            <a:ext cx="228600" cy="320040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581201" y="4296698"/>
            <a:ext cx="1463040" cy="79484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793252" y="4548305"/>
            <a:ext cx="10389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Replica 4</a:t>
            </a:r>
          </a:p>
        </p:txBody>
      </p:sp>
      <p:sp>
        <p:nvSpPr>
          <p:cNvPr id="20" name="Chevron 19"/>
          <p:cNvSpPr/>
          <p:nvPr/>
        </p:nvSpPr>
        <p:spPr>
          <a:xfrm rot="5400000">
            <a:off x="2839211" y="3928216"/>
            <a:ext cx="228600" cy="320040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72429" y="2398138"/>
            <a:ext cx="4575711" cy="25648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1D1D1D"/>
                </a:solidFill>
                <a:latin typeface="Aptos"/>
              </a:rPr>
              <a:t>Five identical processing services receive the same measurement stream from the broker.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1D1D1D"/>
                </a:solidFill>
                <a:latin typeface="Aptos"/>
              </a:rPr>
              <a:t>Each replica analyzes </a:t>
            </a:r>
            <a:r>
              <a:rPr lang="it-IT" sz="1600" dirty="0" err="1">
                <a:solidFill>
                  <a:srgbClr val="1D1D1D"/>
                </a:solidFill>
                <a:latin typeface="Aptos"/>
              </a:rPr>
              <a:t>all</a:t>
            </a:r>
            <a:r>
              <a:rPr lang="it-IT" sz="1600" dirty="0">
                <a:solidFill>
                  <a:srgbClr val="1D1D1D"/>
                </a:solidFill>
                <a:latin typeface="Aptos"/>
              </a:rPr>
              <a:t> </a:t>
            </a:r>
            <a:r>
              <a:rPr sz="1600" dirty="0">
                <a:solidFill>
                  <a:srgbClr val="1D1D1D"/>
                </a:solidFill>
                <a:latin typeface="Aptos"/>
              </a:rPr>
              <a:t>sensors independently and </a:t>
            </a:r>
            <a:r>
              <a:rPr lang="it-IT" sz="1600" dirty="0" err="1">
                <a:solidFill>
                  <a:srgbClr val="1D1D1D"/>
                </a:solidFill>
                <a:latin typeface="Aptos"/>
              </a:rPr>
              <a:t>will</a:t>
            </a:r>
            <a:r>
              <a:rPr sz="1600" dirty="0">
                <a:solidFill>
                  <a:srgbClr val="1D1D1D"/>
                </a:solidFill>
                <a:latin typeface="Aptos"/>
              </a:rPr>
              <a:t> detect the same event</a:t>
            </a:r>
            <a:r>
              <a:rPr lang="it-IT" sz="1600" dirty="0">
                <a:solidFill>
                  <a:srgbClr val="1D1D1D"/>
                </a:solidFill>
                <a:latin typeface="Aptos"/>
              </a:rPr>
              <a:t>s. 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1D1D1D"/>
                </a:solidFill>
                <a:latin typeface="Aptos"/>
              </a:rPr>
              <a:t>Replica failures</a:t>
            </a:r>
            <a:r>
              <a:rPr lang="it-IT" sz="16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600" dirty="0" err="1">
                <a:solidFill>
                  <a:srgbClr val="1D1D1D"/>
                </a:solidFill>
                <a:latin typeface="Aptos"/>
              </a:rPr>
              <a:t>don’t</a:t>
            </a:r>
            <a:r>
              <a:rPr lang="it-IT" sz="1600" dirty="0">
                <a:solidFill>
                  <a:srgbClr val="1D1D1D"/>
                </a:solidFill>
                <a:latin typeface="Aptos"/>
              </a:rPr>
              <a:t> reduce throughput of the system </a:t>
            </a:r>
            <a:r>
              <a:rPr lang="it-IT" sz="1600" dirty="0" err="1">
                <a:solidFill>
                  <a:srgbClr val="1D1D1D"/>
                </a:solidFill>
                <a:latin typeface="Aptos"/>
              </a:rPr>
              <a:t>until</a:t>
            </a:r>
            <a:r>
              <a:rPr lang="it-IT" sz="16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600" dirty="0" err="1">
                <a:solidFill>
                  <a:srgbClr val="1D1D1D"/>
                </a:solidFill>
                <a:latin typeface="Aptos"/>
              </a:rPr>
              <a:t>there</a:t>
            </a:r>
            <a:r>
              <a:rPr lang="it-IT" sz="16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600" dirty="0" err="1">
                <a:solidFill>
                  <a:srgbClr val="1D1D1D"/>
                </a:solidFill>
                <a:latin typeface="Aptos"/>
              </a:rPr>
              <a:t>is</a:t>
            </a:r>
            <a:r>
              <a:rPr lang="it-IT" sz="1600" dirty="0">
                <a:solidFill>
                  <a:srgbClr val="1D1D1D"/>
                </a:solidFill>
                <a:latin typeface="Aptos"/>
              </a:rPr>
              <a:t> no replica </a:t>
            </a:r>
            <a:r>
              <a:rPr lang="it-IT" sz="1600" dirty="0" err="1">
                <a:solidFill>
                  <a:srgbClr val="1D1D1D"/>
                </a:solidFill>
                <a:latin typeface="Aptos"/>
              </a:rPr>
              <a:t>alive</a:t>
            </a:r>
            <a:r>
              <a:rPr lang="it-IT" sz="1600" dirty="0">
                <a:solidFill>
                  <a:srgbClr val="1D1D1D"/>
                </a:solidFill>
                <a:latin typeface="Aptos"/>
              </a:rPr>
              <a:t>: </a:t>
            </a:r>
            <a:r>
              <a:rPr sz="1600" dirty="0">
                <a:solidFill>
                  <a:srgbClr val="1D1D1D"/>
                </a:solidFill>
                <a:latin typeface="Aptos"/>
              </a:rPr>
              <a:t>healthy nodes keep forwarding detections to the gateway</a:t>
            </a:r>
            <a:r>
              <a:rPr lang="it-IT" sz="1600" dirty="0">
                <a:solidFill>
                  <a:srgbClr val="1D1D1D"/>
                </a:solidFill>
                <a:latin typeface="Aptos"/>
              </a:rPr>
              <a:t>.</a:t>
            </a:r>
            <a:endParaRPr sz="1600" dirty="0">
              <a:solidFill>
                <a:srgbClr val="1D1D1D"/>
              </a:solidFill>
              <a:latin typeface="Apto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70663EE-691D-492D-7EAE-4A6BA24311D9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47009" y="525780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Detection and Classification Logic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4592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3271" y="178308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804A35"/>
                </a:solidFill>
                <a:latin typeface="Georgia"/>
              </a:rPr>
              <a:t>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11813"/>
            <a:ext cx="171232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dirty="0">
                <a:solidFill>
                  <a:srgbClr val="656056"/>
                </a:solidFill>
                <a:latin typeface="Aptos"/>
              </a:rPr>
              <a:t>samples per sliding window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64592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19272" y="178308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804A35"/>
                </a:solidFill>
                <a:latin typeface="Georgia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2308775"/>
            <a:ext cx="18288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dirty="0">
                <a:solidFill>
                  <a:srgbClr val="656056"/>
                </a:solidFill>
                <a:latin typeface="Aptos"/>
              </a:rPr>
              <a:t>new samples between analyses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0680" y="164592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05272" y="178308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dirty="0">
                <a:solidFill>
                  <a:srgbClr val="804A35"/>
                </a:solidFill>
                <a:latin typeface="Georgia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3252" y="2288093"/>
            <a:ext cx="19322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dirty="0">
                <a:solidFill>
                  <a:srgbClr val="656056"/>
                </a:solidFill>
                <a:latin typeface="Aptos"/>
              </a:rPr>
              <a:t>cooldown samples after a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645920"/>
            <a:ext cx="2880360" cy="123444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19871" y="1755648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Noise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5" y="2124974"/>
            <a:ext cx="27157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Ignore frequencies below 0.5 Hz and amplitudes below 0.01 mm/s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383280"/>
            <a:ext cx="2743200" cy="731520"/>
          </a:xfrm>
          <a:prstGeom prst="round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354787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0.5 - 3.0 Hz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383280"/>
            <a:ext cx="6400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60520" y="3547872"/>
            <a:ext cx="5852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D1D1D"/>
                </a:solidFill>
                <a:latin typeface="Aptos"/>
              </a:rPr>
              <a:t>Earthquake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261104"/>
            <a:ext cx="2743200" cy="731520"/>
          </a:xfrm>
          <a:prstGeom prst="roundRect">
            <a:avLst/>
          </a:prstGeom>
          <a:solidFill>
            <a:srgbClr val="243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4425696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3.0 - 8.0 Hz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4261104"/>
            <a:ext cx="6400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60520" y="4425696"/>
            <a:ext cx="5852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D1D1D"/>
                </a:solidFill>
                <a:latin typeface="Aptos"/>
              </a:rPr>
              <a:t>Conventional explosion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138928"/>
            <a:ext cx="2743200" cy="731520"/>
          </a:xfrm>
          <a:prstGeom prst="roundRect">
            <a:avLst/>
          </a:prstGeom>
          <a:solidFill>
            <a:srgbClr val="3E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" y="5303520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&gt;= 8.0 Hz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86200" y="5138928"/>
            <a:ext cx="6400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60520" y="5303520"/>
            <a:ext cx="5852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D1D1D"/>
                </a:solidFill>
                <a:latin typeface="Aptos"/>
              </a:rPr>
              <a:t>Nuclear-like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AF82BFE-6C8E-A772-7CE3-64D6131A5B18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62527" y="481538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>
                <a:solidFill>
                  <a:srgbClr val="1D1D1D"/>
                </a:solidFill>
                <a:latin typeface="Georgia"/>
              </a:rPr>
              <a:t>Gateway Consolidation and Persistence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96778"/>
            <a:ext cx="5074920" cy="32726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it-IT" sz="1900" dirty="0" err="1">
                <a:solidFill>
                  <a:srgbClr val="1D1D1D"/>
                </a:solidFill>
                <a:latin typeface="Aptos"/>
              </a:rPr>
              <a:t>Replicas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register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each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sensor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once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through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POST /api/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sensors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and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submit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every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detected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event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through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POST /api/events.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it-IT" sz="1900" dirty="0" err="1">
                <a:solidFill>
                  <a:srgbClr val="1D1D1D"/>
                </a:solidFill>
                <a:latin typeface="Aptos"/>
              </a:rPr>
              <a:t>It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receives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detections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from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all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replicas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and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applies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deduplication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so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that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repeated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submissions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from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different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replicas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of the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same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event are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accepted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only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once.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it-IT" sz="1900" dirty="0">
                <a:solidFill>
                  <a:srgbClr val="1D1D1D"/>
                </a:solidFill>
                <a:latin typeface="Aptos"/>
              </a:rPr>
              <a:t>The gateway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then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persists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the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confirmed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event to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PostgreSQL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and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broadcasts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the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same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consolidated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record to the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frontend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898720"/>
            <a:ext cx="4023360" cy="1051560"/>
          </a:xfrm>
          <a:prstGeom prst="roundRect">
            <a:avLst/>
          </a:prstGeom>
          <a:solidFill>
            <a:srgbClr val="26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550568" y="2286000"/>
            <a:ext cx="408958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dirty="0">
                <a:solidFill>
                  <a:srgbClr val="E1E8E0"/>
                </a:solidFill>
                <a:latin typeface="Courier New"/>
              </a:rPr>
              <a:t>POST /api/sensors + POST /api/events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3175924"/>
            <a:ext cx="40233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48270" y="3188674"/>
            <a:ext cx="3694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Gateway 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5973" y="3459892"/>
            <a:ext cx="38587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i="1" dirty="0">
                <a:solidFill>
                  <a:srgbClr val="1D1D1D"/>
                </a:solidFill>
                <a:latin typeface="Aptos"/>
              </a:rPr>
              <a:t>Single </a:t>
            </a:r>
            <a:r>
              <a:rPr lang="it-IT" sz="1400" i="1" dirty="0" err="1">
                <a:solidFill>
                  <a:srgbClr val="1D1D1D"/>
                </a:solidFill>
                <a:latin typeface="Aptos"/>
              </a:rPr>
              <a:t>ingestion</a:t>
            </a:r>
            <a:r>
              <a:rPr lang="it-IT" sz="1400" i="1" dirty="0">
                <a:solidFill>
                  <a:srgbClr val="1D1D1D"/>
                </a:solidFill>
                <a:latin typeface="Aptos"/>
              </a:rPr>
              <a:t> point for </a:t>
            </a:r>
            <a:r>
              <a:rPr lang="it-IT" sz="1400" i="1" dirty="0" err="1">
                <a:solidFill>
                  <a:srgbClr val="1D1D1D"/>
                </a:solidFill>
                <a:latin typeface="Aptos"/>
              </a:rPr>
              <a:t>replicas</a:t>
            </a:r>
            <a:r>
              <a:rPr lang="it-IT" sz="1400" i="1" dirty="0">
                <a:solidFill>
                  <a:srgbClr val="1D1D1D"/>
                </a:solidFill>
                <a:latin typeface="Aptos"/>
              </a:rPr>
              <a:t>, writer to </a:t>
            </a:r>
            <a:r>
              <a:rPr lang="it-IT" sz="1400" i="1" dirty="0" err="1">
                <a:solidFill>
                  <a:srgbClr val="1D1D1D"/>
                </a:solidFill>
                <a:latin typeface="Aptos"/>
              </a:rPr>
              <a:t>PostgreSQL</a:t>
            </a:r>
            <a:r>
              <a:rPr lang="it-IT" sz="1400" i="1" dirty="0">
                <a:solidFill>
                  <a:srgbClr val="1D1D1D"/>
                </a:solidFill>
                <a:latin typeface="Aptos"/>
              </a:rPr>
              <a:t>, and live source for the dashboard.</a:t>
            </a:r>
            <a:endParaRPr sz="1400" dirty="0">
              <a:solidFill>
                <a:srgbClr val="1D1D1D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583680" y="4315968"/>
            <a:ext cx="4023360" cy="114062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48272" y="4425696"/>
            <a:ext cx="3694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Database guarantees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0" y="4668998"/>
            <a:ext cx="36941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 dirty="0">
                <a:solidFill>
                  <a:srgbClr val="1D1D1D"/>
                </a:solidFill>
                <a:latin typeface="Aptos"/>
              </a:rPr>
              <a:t> </a:t>
            </a:r>
            <a:r>
              <a:rPr sz="1400" i="1" dirty="0" err="1">
                <a:solidFill>
                  <a:srgbClr val="1D1D1D"/>
                </a:solidFill>
                <a:latin typeface="Aptos"/>
              </a:rPr>
              <a:t>events.event_id</a:t>
            </a:r>
            <a:r>
              <a:rPr sz="1400" i="1" dirty="0">
                <a:solidFill>
                  <a:srgbClr val="1D1D1D"/>
                </a:solidFill>
                <a:latin typeface="Aptos"/>
              </a:rPr>
              <a:t> is UNIQUE for duplicate-safe storage.</a:t>
            </a:r>
            <a:endParaRPr sz="1400" dirty="0">
              <a:solidFill>
                <a:srgbClr val="1D1D1D"/>
              </a:solidFill>
              <a:latin typeface="Apto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dirty="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BA31EF-C357-A028-A693-2EC32C30DB5D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429768"/>
            <a:ext cx="494879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sz="2800" b="0" dirty="0" err="1">
                <a:solidFill>
                  <a:srgbClr val="1D1D1D"/>
                </a:solidFill>
                <a:latin typeface="Georgia"/>
              </a:rPr>
              <a:t>PostgreSQL</a:t>
            </a:r>
            <a:r>
              <a:rPr lang="it-IT" sz="2800" b="0">
                <a:solidFill>
                  <a:srgbClr val="1D1D1D"/>
                </a:solidFill>
                <a:latin typeface="Georgia"/>
              </a:rPr>
              <a:t> Database Schema</a:t>
            </a:r>
            <a:endParaRPr sz="2800" b="0" dirty="0">
              <a:solidFill>
                <a:srgbClr val="1D1D1D"/>
              </a:solidFill>
              <a:latin typeface="Georgia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19519" y="3072384"/>
            <a:ext cx="2103120" cy="914400"/>
          </a:xfrm>
          <a:prstGeom prst="round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3839" y="3337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ptos"/>
              </a:rPr>
              <a:t>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03320" y="1463040"/>
            <a:ext cx="7040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67911" y="1572768"/>
            <a:ext cx="6711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Sensor ingest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67911" y="1783080"/>
            <a:ext cx="671169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POST /api/sensors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2212848"/>
            <a:ext cx="7040880" cy="658368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67911" y="2322576"/>
            <a:ext cx="6711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Event ingest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67911" y="2514600"/>
            <a:ext cx="671169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POST /api/events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2962656"/>
            <a:ext cx="7040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67911" y="3072384"/>
            <a:ext cx="6711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Cluster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7911" y="3273551"/>
            <a:ext cx="671169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GET /api/system/status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712463"/>
            <a:ext cx="7040880" cy="658368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67911" y="3822191"/>
            <a:ext cx="6711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History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7911" y="4023360"/>
            <a:ext cx="671169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GET /api/history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3320" y="4462272"/>
            <a:ext cx="7040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67911" y="4572000"/>
            <a:ext cx="6711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Event details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911" y="4764024"/>
            <a:ext cx="671169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GET /api/events/{event_id}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3320" y="5212080"/>
            <a:ext cx="7040880" cy="658368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67911" y="5321808"/>
            <a:ext cx="6711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Live updates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911" y="5550408"/>
            <a:ext cx="671169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WS /ws/live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14</a:t>
            </a:r>
          </a:p>
        </p:txBody>
      </p:sp>
      <p:sp>
        <p:nvSpPr>
          <p:cNvPr id="27" name="Rectangle 15">
            <a:extLst>
              <a:ext uri="{FF2B5EF4-FFF2-40B4-BE49-F238E27FC236}">
                <a16:creationId xmlns:a16="http://schemas.microsoft.com/office/drawing/2014/main" id="{2E36BD8E-24DC-6F2D-565E-71D160C35D24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7658" y="458132"/>
            <a:ext cx="242245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sz="2800" b="0" dirty="0" err="1">
                <a:solidFill>
                  <a:srgbClr val="1D1D1D"/>
                </a:solidFill>
                <a:latin typeface="Georgia"/>
              </a:rPr>
              <a:t>Sensors</a:t>
            </a:r>
            <a:r>
              <a:rPr lang="it-IT" sz="2800" b="0" dirty="0">
                <a:solidFill>
                  <a:srgbClr val="1D1D1D"/>
                </a:solidFill>
                <a:latin typeface="Georgia"/>
              </a:rPr>
              <a:t> </a:t>
            </a:r>
            <a:r>
              <a:rPr lang="it-IT" sz="2800" b="0" dirty="0" err="1">
                <a:solidFill>
                  <a:srgbClr val="1D1D1D"/>
                </a:solidFill>
                <a:latin typeface="Georgia"/>
              </a:rPr>
              <a:t>states</a:t>
            </a:r>
            <a:endParaRPr lang="it-IT" sz="2800" b="0" dirty="0">
              <a:solidFill>
                <a:srgbClr val="1D1D1D"/>
              </a:solidFill>
              <a:latin typeface="Georgia"/>
            </a:endParaRPr>
          </a:p>
        </p:txBody>
      </p:sp>
      <p:pic>
        <p:nvPicPr>
          <p:cNvPr id="4" name="Picture 3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859" y="962333"/>
            <a:ext cx="8548734" cy="528672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15</a:t>
            </a:r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94358AAB-D9DE-7895-18C8-0EF4AC51834B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804A35"/>
                </a:solidFill>
                <a:latin typeface="Aptos"/>
              </a:rPr>
              <a:t>FRONTEND MOCKUP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>
                <a:solidFill>
                  <a:srgbClr val="1D1D1D"/>
                </a:solidFill>
                <a:latin typeface="Georgia"/>
              </a:rPr>
              <a:t>Historical investigation workflow</a:t>
            </a:r>
          </a:p>
        </p:txBody>
      </p:sp>
      <p:pic>
        <p:nvPicPr>
          <p:cNvPr id="4" name="Picture 3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036" y="1353312"/>
            <a:ext cx="5519844" cy="3630168"/>
          </a:xfrm>
          <a:prstGeom prst="rect">
            <a:avLst/>
          </a:prstGeom>
        </p:spPr>
      </p:pic>
      <p:pic>
        <p:nvPicPr>
          <p:cNvPr id="5" name="Picture 4" descr="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353312"/>
            <a:ext cx="5420388" cy="363016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120640"/>
            <a:ext cx="50749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5230368"/>
            <a:ext cx="47457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Historical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5500116"/>
            <a:ext cx="47457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Filters and live-compatible updates keep the event list actionable during investigations without losing continuity.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4122" y="5120640"/>
            <a:ext cx="4983480" cy="10972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81573" y="5221471"/>
            <a:ext cx="4654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Event Details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8714" y="5459215"/>
            <a:ext cx="465429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The details view combines classification, dominant frequency, amplitude, coordinates, and sensor context in one place.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804A35"/>
                </a:solidFill>
                <a:latin typeface="Aptos"/>
              </a:rPr>
              <a:t>FRONTEND MOCKUP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>
                <a:solidFill>
                  <a:srgbClr val="1D1D1D"/>
                </a:solidFill>
                <a:latin typeface="Georgia"/>
              </a:rPr>
              <a:t>System Health and degraded operation</a:t>
            </a:r>
          </a:p>
        </p:txBody>
      </p:sp>
      <p:pic>
        <p:nvPicPr>
          <p:cNvPr id="4" name="Picture 3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621792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783080"/>
            <a:ext cx="4008120" cy="398570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900" dirty="0">
                <a:solidFill>
                  <a:srgbClr val="1D1D1D"/>
                </a:solidFill>
                <a:latin typeface="Aptos"/>
              </a:rPr>
              <a:t>The health page surfaces replica availability, heartbeats, unavailable-since timestamps, and recent cluster events so operators can keep working even when processing capacity degrades.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804A35"/>
                </a:solidFill>
                <a:latin typeface="Aptos"/>
              </a:rPr>
              <a:t>SYSTEM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>
                <a:solidFill>
                  <a:srgbClr val="1D1D1D"/>
                </a:solidFill>
                <a:latin typeface="Georgia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98755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900" dirty="0">
                <a:solidFill>
                  <a:srgbClr val="1D1D1D"/>
                </a:solidFill>
                <a:latin typeface="Aptos"/>
              </a:rPr>
              <a:t>Broker fan-out, replicated analysis, gateway consolidation, and PostgreSQL persistence now form one coherent runtime pipeline.</a:t>
            </a:r>
          </a:p>
          <a:p>
            <a:pPr>
              <a:spcAft>
                <a:spcPts val="1000"/>
              </a:spcAft>
            </a:pPr>
            <a:r>
              <a:rPr sz="1900" dirty="0">
                <a:solidFill>
                  <a:srgbClr val="1D1D1D"/>
                </a:solidFill>
                <a:latin typeface="Aptos"/>
              </a:rPr>
              <a:t>The frontend consumes a single source of truth because live updates and historical queries come from the same gateway-owned data flow.</a:t>
            </a:r>
          </a:p>
          <a:p>
            <a:pPr>
              <a:spcAft>
                <a:spcPts val="1000"/>
              </a:spcAft>
            </a:pPr>
            <a:r>
              <a:rPr sz="1900" dirty="0">
                <a:solidFill>
                  <a:srgbClr val="1D1D1D"/>
                </a:solidFill>
                <a:latin typeface="Aptos"/>
              </a:rPr>
              <a:t>The platform continues to provide operational value even when one or more processing nodes become unavailable.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1047</Words>
  <Application>Microsoft Macintosh PowerPoint</Application>
  <PresentationFormat>Widescreen</PresentationFormat>
  <Paragraphs>187</Paragraphs>
  <Slides>17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3" baseType="lpstr">
      <vt:lpstr>Aptos</vt:lpstr>
      <vt:lpstr>Arial</vt:lpstr>
      <vt:lpstr>Calibri</vt:lpstr>
      <vt:lpstr>Courier New</vt:lpstr>
      <vt:lpstr>Georgia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Tommaso Giorgini</cp:lastModifiedBy>
  <cp:revision>5</cp:revision>
  <dcterms:created xsi:type="dcterms:W3CDTF">2013-01-27T09:14:16Z</dcterms:created>
  <dcterms:modified xsi:type="dcterms:W3CDTF">2026-03-31T20:37:24Z</dcterms:modified>
  <cp:category/>
</cp:coreProperties>
</file>