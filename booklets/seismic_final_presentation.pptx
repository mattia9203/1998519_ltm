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5" r:id="rId6"/>
    <p:sldId id="263" r:id="rId7"/>
    <p:sldId id="266" r:id="rId8"/>
    <p:sldId id="264" r:id="rId9"/>
    <p:sldId id="267" r:id="rId10"/>
    <p:sldId id="275" r:id="rId11"/>
    <p:sldId id="268" r:id="rId12"/>
    <p:sldId id="269" r:id="rId13"/>
    <p:sldId id="270" r:id="rId14"/>
    <p:sldId id="271" r:id="rId15"/>
    <p:sldId id="261" r:id="rId16"/>
    <p:sldId id="2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06"/>
    <p:restoredTop sz="91413"/>
  </p:normalViewPr>
  <p:slideViewPr>
    <p:cSldViewPr snapToGrid="0" snapToObjects="1">
      <p:cViewPr>
        <p:scale>
          <a:sx n="102" d="100"/>
          <a:sy n="102" d="100"/>
        </p:scale>
        <p:origin x="208" y="4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007855-F7E4-4CA1-B399-8099EFA7EB7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0A14BBE-9105-4C07-89C7-8ACCD2D06FD5}">
      <dgm:prSet/>
      <dgm:spPr/>
      <dgm:t>
        <a:bodyPr/>
        <a:lstStyle/>
        <a:p>
          <a:r>
            <a:rPr lang="it-IT" dirty="0" err="1"/>
            <a:t>Ingest</a:t>
          </a:r>
          <a:r>
            <a:rPr lang="it-IT" dirty="0"/>
            <a:t> live </a:t>
          </a:r>
          <a:r>
            <a:rPr lang="it-IT" dirty="0" err="1"/>
            <a:t>measurements</a:t>
          </a:r>
          <a:r>
            <a:rPr lang="it-IT" dirty="0"/>
            <a:t> from an </a:t>
          </a:r>
          <a:r>
            <a:rPr lang="it-IT" dirty="0" err="1"/>
            <a:t>external</a:t>
          </a:r>
          <a:r>
            <a:rPr lang="it-IT" dirty="0"/>
            <a:t> </a:t>
          </a:r>
          <a:r>
            <a:rPr lang="it-IT" dirty="0" err="1"/>
            <a:t>seismic</a:t>
          </a:r>
          <a:r>
            <a:rPr lang="it-IT" dirty="0"/>
            <a:t> simulator.</a:t>
          </a:r>
          <a:endParaRPr lang="en-US" dirty="0"/>
        </a:p>
      </dgm:t>
    </dgm:pt>
    <dgm:pt modelId="{9E226491-3083-426E-95E3-F95831FE0545}" type="parTrans" cxnId="{9DD3CF3C-44B9-452B-B332-450AD254FC68}">
      <dgm:prSet/>
      <dgm:spPr/>
      <dgm:t>
        <a:bodyPr/>
        <a:lstStyle/>
        <a:p>
          <a:endParaRPr lang="en-US"/>
        </a:p>
      </dgm:t>
    </dgm:pt>
    <dgm:pt modelId="{F2260813-38ED-4B32-8409-DE292B9D500F}" type="sibTrans" cxnId="{9DD3CF3C-44B9-452B-B332-450AD254FC68}">
      <dgm:prSet/>
      <dgm:spPr/>
      <dgm:t>
        <a:bodyPr/>
        <a:lstStyle/>
        <a:p>
          <a:endParaRPr lang="en-US"/>
        </a:p>
      </dgm:t>
    </dgm:pt>
    <dgm:pt modelId="{56DEE44A-2A15-4C15-875E-D6A61D08C11B}">
      <dgm:prSet/>
      <dgm:spPr/>
      <dgm:t>
        <a:bodyPr/>
        <a:lstStyle/>
        <a:p>
          <a:r>
            <a:rPr lang="it-IT"/>
            <a:t>Redistribute a normalized stream to replicated processing nodes</a:t>
          </a:r>
          <a:endParaRPr lang="en-US"/>
        </a:p>
      </dgm:t>
    </dgm:pt>
    <dgm:pt modelId="{B2CCA0F9-10CD-4979-B883-20065BC4B468}" type="parTrans" cxnId="{960A36D0-E79C-4B90-B166-A47312B79753}">
      <dgm:prSet/>
      <dgm:spPr/>
      <dgm:t>
        <a:bodyPr/>
        <a:lstStyle/>
        <a:p>
          <a:endParaRPr lang="en-US"/>
        </a:p>
      </dgm:t>
    </dgm:pt>
    <dgm:pt modelId="{7DF8BEC9-9EC5-4FCB-8E9D-91D10D4FDA22}" type="sibTrans" cxnId="{960A36D0-E79C-4B90-B166-A47312B79753}">
      <dgm:prSet/>
      <dgm:spPr/>
      <dgm:t>
        <a:bodyPr/>
        <a:lstStyle/>
        <a:p>
          <a:endParaRPr lang="en-US"/>
        </a:p>
      </dgm:t>
    </dgm:pt>
    <dgm:pt modelId="{66286C92-CC5D-4EB0-B7E4-46DA28BEC68F}">
      <dgm:prSet/>
      <dgm:spPr/>
      <dgm:t>
        <a:bodyPr/>
        <a:lstStyle/>
        <a:p>
          <a:r>
            <a:rPr lang="it-IT"/>
            <a:t>Classify events through FFT-based frequency analysis.</a:t>
          </a:r>
          <a:endParaRPr lang="en-US"/>
        </a:p>
      </dgm:t>
    </dgm:pt>
    <dgm:pt modelId="{5AF34725-9580-4C10-887E-FFEBD422DAEB}" type="parTrans" cxnId="{8F467ABC-9EC0-4813-9751-41EB52787E9D}">
      <dgm:prSet/>
      <dgm:spPr/>
      <dgm:t>
        <a:bodyPr/>
        <a:lstStyle/>
        <a:p>
          <a:endParaRPr lang="en-US"/>
        </a:p>
      </dgm:t>
    </dgm:pt>
    <dgm:pt modelId="{25728410-E83A-4944-B7F3-04015784B555}" type="sibTrans" cxnId="{8F467ABC-9EC0-4813-9751-41EB52787E9D}">
      <dgm:prSet/>
      <dgm:spPr/>
      <dgm:t>
        <a:bodyPr/>
        <a:lstStyle/>
        <a:p>
          <a:endParaRPr lang="en-US"/>
        </a:p>
      </dgm:t>
    </dgm:pt>
    <dgm:pt modelId="{15205DAB-5D4A-46CC-97DE-0A4F7B53EB61}">
      <dgm:prSet/>
      <dgm:spPr/>
      <dgm:t>
        <a:bodyPr/>
        <a:lstStyle/>
        <a:p>
          <a:r>
            <a:rPr lang="it-IT"/>
            <a:t>Persist consolidated results in PostgreSQL.</a:t>
          </a:r>
          <a:endParaRPr lang="en-US"/>
        </a:p>
      </dgm:t>
    </dgm:pt>
    <dgm:pt modelId="{48A95DAF-617E-425E-BC4A-A96EE6C3D952}" type="parTrans" cxnId="{DFC4AB3C-B439-46F7-A3F7-A3E79CE34406}">
      <dgm:prSet/>
      <dgm:spPr/>
      <dgm:t>
        <a:bodyPr/>
        <a:lstStyle/>
        <a:p>
          <a:endParaRPr lang="en-US"/>
        </a:p>
      </dgm:t>
    </dgm:pt>
    <dgm:pt modelId="{ADC1F040-C92E-4CFD-AF5B-A208992C46AB}" type="sibTrans" cxnId="{DFC4AB3C-B439-46F7-A3F7-A3E79CE34406}">
      <dgm:prSet/>
      <dgm:spPr/>
      <dgm:t>
        <a:bodyPr/>
        <a:lstStyle/>
        <a:p>
          <a:endParaRPr lang="en-US"/>
        </a:p>
      </dgm:t>
    </dgm:pt>
    <dgm:pt modelId="{D8348013-3E52-48F2-896B-9FEEF3ECE2B6}">
      <dgm:prSet/>
      <dgm:spPr/>
      <dgm:t>
        <a:bodyPr/>
        <a:lstStyle/>
        <a:p>
          <a:r>
            <a:rPr lang="it-IT"/>
            <a:t>Expose live and historical visibility through a single dashboard.</a:t>
          </a:r>
          <a:endParaRPr lang="en-US"/>
        </a:p>
      </dgm:t>
    </dgm:pt>
    <dgm:pt modelId="{98543B8B-A6A3-49CA-A697-4C88BE6C1F25}" type="parTrans" cxnId="{0B44C237-239B-495A-A5DB-63D3E0F92611}">
      <dgm:prSet/>
      <dgm:spPr/>
      <dgm:t>
        <a:bodyPr/>
        <a:lstStyle/>
        <a:p>
          <a:endParaRPr lang="en-US"/>
        </a:p>
      </dgm:t>
    </dgm:pt>
    <dgm:pt modelId="{21BF4C05-B01C-4CAE-9DD5-ED4FBDB23422}" type="sibTrans" cxnId="{0B44C237-239B-495A-A5DB-63D3E0F92611}">
      <dgm:prSet/>
      <dgm:spPr/>
      <dgm:t>
        <a:bodyPr/>
        <a:lstStyle/>
        <a:p>
          <a:endParaRPr lang="en-US"/>
        </a:p>
      </dgm:t>
    </dgm:pt>
    <dgm:pt modelId="{684021C7-E243-564D-9A15-49A9C2F5417A}" type="pres">
      <dgm:prSet presAssocID="{47007855-F7E4-4CA1-B399-8099EFA7EB74}" presName="outerComposite" presStyleCnt="0">
        <dgm:presLayoutVars>
          <dgm:chMax val="5"/>
          <dgm:dir/>
          <dgm:resizeHandles val="exact"/>
        </dgm:presLayoutVars>
      </dgm:prSet>
      <dgm:spPr/>
    </dgm:pt>
    <dgm:pt modelId="{074A6875-A251-AC4E-AF5F-62E2D732803A}" type="pres">
      <dgm:prSet presAssocID="{47007855-F7E4-4CA1-B399-8099EFA7EB74}" presName="dummyMaxCanvas" presStyleCnt="0">
        <dgm:presLayoutVars/>
      </dgm:prSet>
      <dgm:spPr/>
    </dgm:pt>
    <dgm:pt modelId="{57D17642-AE4B-9847-B9E5-38C473E7E7CD}" type="pres">
      <dgm:prSet presAssocID="{47007855-F7E4-4CA1-B399-8099EFA7EB74}" presName="FiveNodes_1" presStyleLbl="node1" presStyleIdx="0" presStyleCnt="5" custLinFactNeighborX="409" custLinFactNeighborY="-1840">
        <dgm:presLayoutVars>
          <dgm:bulletEnabled val="1"/>
        </dgm:presLayoutVars>
      </dgm:prSet>
      <dgm:spPr/>
    </dgm:pt>
    <dgm:pt modelId="{CF997BE2-8467-8943-842E-468B181EAB99}" type="pres">
      <dgm:prSet presAssocID="{47007855-F7E4-4CA1-B399-8099EFA7EB74}" presName="FiveNodes_2" presStyleLbl="node1" presStyleIdx="1" presStyleCnt="5">
        <dgm:presLayoutVars>
          <dgm:bulletEnabled val="1"/>
        </dgm:presLayoutVars>
      </dgm:prSet>
      <dgm:spPr/>
    </dgm:pt>
    <dgm:pt modelId="{4C610171-9237-624F-B5F9-E74EE0CD7CCC}" type="pres">
      <dgm:prSet presAssocID="{47007855-F7E4-4CA1-B399-8099EFA7EB74}" presName="FiveNodes_3" presStyleLbl="node1" presStyleIdx="2" presStyleCnt="5">
        <dgm:presLayoutVars>
          <dgm:bulletEnabled val="1"/>
        </dgm:presLayoutVars>
      </dgm:prSet>
      <dgm:spPr/>
    </dgm:pt>
    <dgm:pt modelId="{33BBDCA7-13DE-D841-97C5-4EB9BF91FE53}" type="pres">
      <dgm:prSet presAssocID="{47007855-F7E4-4CA1-B399-8099EFA7EB74}" presName="FiveNodes_4" presStyleLbl="node1" presStyleIdx="3" presStyleCnt="5">
        <dgm:presLayoutVars>
          <dgm:bulletEnabled val="1"/>
        </dgm:presLayoutVars>
      </dgm:prSet>
      <dgm:spPr/>
    </dgm:pt>
    <dgm:pt modelId="{51B5E0C6-F7C5-9846-A789-DDE29A9CABB7}" type="pres">
      <dgm:prSet presAssocID="{47007855-F7E4-4CA1-B399-8099EFA7EB74}" presName="FiveNodes_5" presStyleLbl="node1" presStyleIdx="4" presStyleCnt="5">
        <dgm:presLayoutVars>
          <dgm:bulletEnabled val="1"/>
        </dgm:presLayoutVars>
      </dgm:prSet>
      <dgm:spPr/>
    </dgm:pt>
    <dgm:pt modelId="{8FC94447-3ADF-444D-8D80-EF5E91455B63}" type="pres">
      <dgm:prSet presAssocID="{47007855-F7E4-4CA1-B399-8099EFA7EB74}" presName="FiveConn_1-2" presStyleLbl="fgAccFollowNode1" presStyleIdx="0" presStyleCnt="4">
        <dgm:presLayoutVars>
          <dgm:bulletEnabled val="1"/>
        </dgm:presLayoutVars>
      </dgm:prSet>
      <dgm:spPr/>
    </dgm:pt>
    <dgm:pt modelId="{C5B120F9-8843-DF42-B438-37E3002613FE}" type="pres">
      <dgm:prSet presAssocID="{47007855-F7E4-4CA1-B399-8099EFA7EB74}" presName="FiveConn_2-3" presStyleLbl="fgAccFollowNode1" presStyleIdx="1" presStyleCnt="4">
        <dgm:presLayoutVars>
          <dgm:bulletEnabled val="1"/>
        </dgm:presLayoutVars>
      </dgm:prSet>
      <dgm:spPr/>
    </dgm:pt>
    <dgm:pt modelId="{39C67077-9345-DD44-8A69-9A1D001A1F61}" type="pres">
      <dgm:prSet presAssocID="{47007855-F7E4-4CA1-B399-8099EFA7EB74}" presName="FiveConn_3-4" presStyleLbl="fgAccFollowNode1" presStyleIdx="2" presStyleCnt="4">
        <dgm:presLayoutVars>
          <dgm:bulletEnabled val="1"/>
        </dgm:presLayoutVars>
      </dgm:prSet>
      <dgm:spPr/>
    </dgm:pt>
    <dgm:pt modelId="{1DA43963-A724-854E-A9D7-999324FCF870}" type="pres">
      <dgm:prSet presAssocID="{47007855-F7E4-4CA1-B399-8099EFA7EB74}" presName="FiveConn_4-5" presStyleLbl="fgAccFollowNode1" presStyleIdx="3" presStyleCnt="4">
        <dgm:presLayoutVars>
          <dgm:bulletEnabled val="1"/>
        </dgm:presLayoutVars>
      </dgm:prSet>
      <dgm:spPr/>
    </dgm:pt>
    <dgm:pt modelId="{EFC3D5DC-93E3-514E-A467-F76C2D231FF5}" type="pres">
      <dgm:prSet presAssocID="{47007855-F7E4-4CA1-B399-8099EFA7EB74}" presName="FiveNodes_1_text" presStyleLbl="node1" presStyleIdx="4" presStyleCnt="5">
        <dgm:presLayoutVars>
          <dgm:bulletEnabled val="1"/>
        </dgm:presLayoutVars>
      </dgm:prSet>
      <dgm:spPr/>
    </dgm:pt>
    <dgm:pt modelId="{0F8460B4-AF01-D348-911D-58F0F81947CE}" type="pres">
      <dgm:prSet presAssocID="{47007855-F7E4-4CA1-B399-8099EFA7EB74}" presName="FiveNodes_2_text" presStyleLbl="node1" presStyleIdx="4" presStyleCnt="5">
        <dgm:presLayoutVars>
          <dgm:bulletEnabled val="1"/>
        </dgm:presLayoutVars>
      </dgm:prSet>
      <dgm:spPr/>
    </dgm:pt>
    <dgm:pt modelId="{A13DD4C3-7F71-B246-8335-8E52B43ADCB4}" type="pres">
      <dgm:prSet presAssocID="{47007855-F7E4-4CA1-B399-8099EFA7EB74}" presName="FiveNodes_3_text" presStyleLbl="node1" presStyleIdx="4" presStyleCnt="5">
        <dgm:presLayoutVars>
          <dgm:bulletEnabled val="1"/>
        </dgm:presLayoutVars>
      </dgm:prSet>
      <dgm:spPr/>
    </dgm:pt>
    <dgm:pt modelId="{299BCE8D-F730-8A43-A932-4956F002FF5F}" type="pres">
      <dgm:prSet presAssocID="{47007855-F7E4-4CA1-B399-8099EFA7EB74}" presName="FiveNodes_4_text" presStyleLbl="node1" presStyleIdx="4" presStyleCnt="5">
        <dgm:presLayoutVars>
          <dgm:bulletEnabled val="1"/>
        </dgm:presLayoutVars>
      </dgm:prSet>
      <dgm:spPr/>
    </dgm:pt>
    <dgm:pt modelId="{8E07EBFC-ABDC-EE4E-8393-FDDCA9302FDE}" type="pres">
      <dgm:prSet presAssocID="{47007855-F7E4-4CA1-B399-8099EFA7EB74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C833120-A4E2-C645-B19B-31B45AF2E7F6}" type="presOf" srcId="{ADC1F040-C92E-4CFD-AF5B-A208992C46AB}" destId="{1DA43963-A724-854E-A9D7-999324FCF870}" srcOrd="0" destOrd="0" presId="urn:microsoft.com/office/officeart/2005/8/layout/vProcess5"/>
    <dgm:cxn modelId="{0B44C237-239B-495A-A5DB-63D3E0F92611}" srcId="{47007855-F7E4-4CA1-B399-8099EFA7EB74}" destId="{D8348013-3E52-48F2-896B-9FEEF3ECE2B6}" srcOrd="4" destOrd="0" parTransId="{98543B8B-A6A3-49CA-A697-4C88BE6C1F25}" sibTransId="{21BF4C05-B01C-4CAE-9DD5-ED4FBDB23422}"/>
    <dgm:cxn modelId="{86085B3A-0755-A94A-98B7-782138110961}" type="presOf" srcId="{D8348013-3E52-48F2-896B-9FEEF3ECE2B6}" destId="{51B5E0C6-F7C5-9846-A789-DDE29A9CABB7}" srcOrd="0" destOrd="0" presId="urn:microsoft.com/office/officeart/2005/8/layout/vProcess5"/>
    <dgm:cxn modelId="{DFC4AB3C-B439-46F7-A3F7-A3E79CE34406}" srcId="{47007855-F7E4-4CA1-B399-8099EFA7EB74}" destId="{15205DAB-5D4A-46CC-97DE-0A4F7B53EB61}" srcOrd="3" destOrd="0" parTransId="{48A95DAF-617E-425E-BC4A-A96EE6C3D952}" sibTransId="{ADC1F040-C92E-4CFD-AF5B-A208992C46AB}"/>
    <dgm:cxn modelId="{9DD3CF3C-44B9-452B-B332-450AD254FC68}" srcId="{47007855-F7E4-4CA1-B399-8099EFA7EB74}" destId="{40A14BBE-9105-4C07-89C7-8ACCD2D06FD5}" srcOrd="0" destOrd="0" parTransId="{9E226491-3083-426E-95E3-F95831FE0545}" sibTransId="{F2260813-38ED-4B32-8409-DE292B9D500F}"/>
    <dgm:cxn modelId="{811D2E45-CA79-5F42-8836-1E2FC2B16A42}" type="presOf" srcId="{F2260813-38ED-4B32-8409-DE292B9D500F}" destId="{8FC94447-3ADF-444D-8D80-EF5E91455B63}" srcOrd="0" destOrd="0" presId="urn:microsoft.com/office/officeart/2005/8/layout/vProcess5"/>
    <dgm:cxn modelId="{DB8DF153-18B7-3A46-944C-67DFD304D432}" type="presOf" srcId="{25728410-E83A-4944-B7F3-04015784B555}" destId="{39C67077-9345-DD44-8A69-9A1D001A1F61}" srcOrd="0" destOrd="0" presId="urn:microsoft.com/office/officeart/2005/8/layout/vProcess5"/>
    <dgm:cxn modelId="{5F554055-6F31-D149-B44D-5399F9F21BE9}" type="presOf" srcId="{7DF8BEC9-9EC5-4FCB-8E9D-91D10D4FDA22}" destId="{C5B120F9-8843-DF42-B438-37E3002613FE}" srcOrd="0" destOrd="0" presId="urn:microsoft.com/office/officeart/2005/8/layout/vProcess5"/>
    <dgm:cxn modelId="{8C74A962-7C66-DB41-827E-67304DB040BC}" type="presOf" srcId="{D8348013-3E52-48F2-896B-9FEEF3ECE2B6}" destId="{8E07EBFC-ABDC-EE4E-8393-FDDCA9302FDE}" srcOrd="1" destOrd="0" presId="urn:microsoft.com/office/officeart/2005/8/layout/vProcess5"/>
    <dgm:cxn modelId="{D255AF65-23A0-2A4D-BD68-DFDADC688C22}" type="presOf" srcId="{56DEE44A-2A15-4C15-875E-D6A61D08C11B}" destId="{0F8460B4-AF01-D348-911D-58F0F81947CE}" srcOrd="1" destOrd="0" presId="urn:microsoft.com/office/officeart/2005/8/layout/vProcess5"/>
    <dgm:cxn modelId="{DEE92D6B-77B8-624C-B9CA-70CA8A2E7C33}" type="presOf" srcId="{15205DAB-5D4A-46CC-97DE-0A4F7B53EB61}" destId="{33BBDCA7-13DE-D841-97C5-4EB9BF91FE53}" srcOrd="0" destOrd="0" presId="urn:microsoft.com/office/officeart/2005/8/layout/vProcess5"/>
    <dgm:cxn modelId="{F34B3B92-76D3-1F4B-9F83-C1A246C3D508}" type="presOf" srcId="{40A14BBE-9105-4C07-89C7-8ACCD2D06FD5}" destId="{EFC3D5DC-93E3-514E-A467-F76C2D231FF5}" srcOrd="1" destOrd="0" presId="urn:microsoft.com/office/officeart/2005/8/layout/vProcess5"/>
    <dgm:cxn modelId="{A491F0A1-803E-5D43-8CF6-9D671B9D8E16}" type="presOf" srcId="{47007855-F7E4-4CA1-B399-8099EFA7EB74}" destId="{684021C7-E243-564D-9A15-49A9C2F5417A}" srcOrd="0" destOrd="0" presId="urn:microsoft.com/office/officeart/2005/8/layout/vProcess5"/>
    <dgm:cxn modelId="{DAD63EAC-B087-894C-A0CA-6EA0BB35C744}" type="presOf" srcId="{40A14BBE-9105-4C07-89C7-8ACCD2D06FD5}" destId="{57D17642-AE4B-9847-B9E5-38C473E7E7CD}" srcOrd="0" destOrd="0" presId="urn:microsoft.com/office/officeart/2005/8/layout/vProcess5"/>
    <dgm:cxn modelId="{3DF422B2-A147-C44F-AC9D-6B94C3840E83}" type="presOf" srcId="{66286C92-CC5D-4EB0-B7E4-46DA28BEC68F}" destId="{A13DD4C3-7F71-B246-8335-8E52B43ADCB4}" srcOrd="1" destOrd="0" presId="urn:microsoft.com/office/officeart/2005/8/layout/vProcess5"/>
    <dgm:cxn modelId="{8F467ABC-9EC0-4813-9751-41EB52787E9D}" srcId="{47007855-F7E4-4CA1-B399-8099EFA7EB74}" destId="{66286C92-CC5D-4EB0-B7E4-46DA28BEC68F}" srcOrd="2" destOrd="0" parTransId="{5AF34725-9580-4C10-887E-FFEBD422DAEB}" sibTransId="{25728410-E83A-4944-B7F3-04015784B555}"/>
    <dgm:cxn modelId="{069F17C1-82F5-A04C-B2C3-0C8A674560C5}" type="presOf" srcId="{56DEE44A-2A15-4C15-875E-D6A61D08C11B}" destId="{CF997BE2-8467-8943-842E-468B181EAB99}" srcOrd="0" destOrd="0" presId="urn:microsoft.com/office/officeart/2005/8/layout/vProcess5"/>
    <dgm:cxn modelId="{960A36D0-E79C-4B90-B166-A47312B79753}" srcId="{47007855-F7E4-4CA1-B399-8099EFA7EB74}" destId="{56DEE44A-2A15-4C15-875E-D6A61D08C11B}" srcOrd="1" destOrd="0" parTransId="{B2CCA0F9-10CD-4979-B883-20065BC4B468}" sibTransId="{7DF8BEC9-9EC5-4FCB-8E9D-91D10D4FDA22}"/>
    <dgm:cxn modelId="{B5D629E0-2802-F043-AC28-EC820ADA1424}" type="presOf" srcId="{66286C92-CC5D-4EB0-B7E4-46DA28BEC68F}" destId="{4C610171-9237-624F-B5F9-E74EE0CD7CCC}" srcOrd="0" destOrd="0" presId="urn:microsoft.com/office/officeart/2005/8/layout/vProcess5"/>
    <dgm:cxn modelId="{240416F6-A5AD-A04B-8DD5-58188EA7273B}" type="presOf" srcId="{15205DAB-5D4A-46CC-97DE-0A4F7B53EB61}" destId="{299BCE8D-F730-8A43-A932-4956F002FF5F}" srcOrd="1" destOrd="0" presId="urn:microsoft.com/office/officeart/2005/8/layout/vProcess5"/>
    <dgm:cxn modelId="{12054242-EA65-734D-A878-3640A12FBB5D}" type="presParOf" srcId="{684021C7-E243-564D-9A15-49A9C2F5417A}" destId="{074A6875-A251-AC4E-AF5F-62E2D732803A}" srcOrd="0" destOrd="0" presId="urn:microsoft.com/office/officeart/2005/8/layout/vProcess5"/>
    <dgm:cxn modelId="{E98E88B7-F89A-F145-B8A3-E8A0CFD42462}" type="presParOf" srcId="{684021C7-E243-564D-9A15-49A9C2F5417A}" destId="{57D17642-AE4B-9847-B9E5-38C473E7E7CD}" srcOrd="1" destOrd="0" presId="urn:microsoft.com/office/officeart/2005/8/layout/vProcess5"/>
    <dgm:cxn modelId="{0B986A3A-8B4C-8448-AB7E-2CB93499ACDC}" type="presParOf" srcId="{684021C7-E243-564D-9A15-49A9C2F5417A}" destId="{CF997BE2-8467-8943-842E-468B181EAB99}" srcOrd="2" destOrd="0" presId="urn:microsoft.com/office/officeart/2005/8/layout/vProcess5"/>
    <dgm:cxn modelId="{7209626D-8D21-F74E-81ED-AF6DA48EAC9D}" type="presParOf" srcId="{684021C7-E243-564D-9A15-49A9C2F5417A}" destId="{4C610171-9237-624F-B5F9-E74EE0CD7CCC}" srcOrd="3" destOrd="0" presId="urn:microsoft.com/office/officeart/2005/8/layout/vProcess5"/>
    <dgm:cxn modelId="{9CC28418-394B-2C4B-84D6-7093A938AF3E}" type="presParOf" srcId="{684021C7-E243-564D-9A15-49A9C2F5417A}" destId="{33BBDCA7-13DE-D841-97C5-4EB9BF91FE53}" srcOrd="4" destOrd="0" presId="urn:microsoft.com/office/officeart/2005/8/layout/vProcess5"/>
    <dgm:cxn modelId="{F49DB787-0FFC-7049-B728-D6EBBA870AAC}" type="presParOf" srcId="{684021C7-E243-564D-9A15-49A9C2F5417A}" destId="{51B5E0C6-F7C5-9846-A789-DDE29A9CABB7}" srcOrd="5" destOrd="0" presId="urn:microsoft.com/office/officeart/2005/8/layout/vProcess5"/>
    <dgm:cxn modelId="{459EBD89-FB02-F24C-9D75-258B8C929C62}" type="presParOf" srcId="{684021C7-E243-564D-9A15-49A9C2F5417A}" destId="{8FC94447-3ADF-444D-8D80-EF5E91455B63}" srcOrd="6" destOrd="0" presId="urn:microsoft.com/office/officeart/2005/8/layout/vProcess5"/>
    <dgm:cxn modelId="{BA9150F4-FF0A-7042-9170-A70C98158B3B}" type="presParOf" srcId="{684021C7-E243-564D-9A15-49A9C2F5417A}" destId="{C5B120F9-8843-DF42-B438-37E3002613FE}" srcOrd="7" destOrd="0" presId="urn:microsoft.com/office/officeart/2005/8/layout/vProcess5"/>
    <dgm:cxn modelId="{F654136C-3DBA-7845-8BF4-A610B6F7164B}" type="presParOf" srcId="{684021C7-E243-564D-9A15-49A9C2F5417A}" destId="{39C67077-9345-DD44-8A69-9A1D001A1F61}" srcOrd="8" destOrd="0" presId="urn:microsoft.com/office/officeart/2005/8/layout/vProcess5"/>
    <dgm:cxn modelId="{F9FBEF84-AF3D-4047-B99A-94F3A69A8C0A}" type="presParOf" srcId="{684021C7-E243-564D-9A15-49A9C2F5417A}" destId="{1DA43963-A724-854E-A9D7-999324FCF870}" srcOrd="9" destOrd="0" presId="urn:microsoft.com/office/officeart/2005/8/layout/vProcess5"/>
    <dgm:cxn modelId="{F878CF9F-F1F4-E647-B584-2C9E2DB83E6F}" type="presParOf" srcId="{684021C7-E243-564D-9A15-49A9C2F5417A}" destId="{EFC3D5DC-93E3-514E-A467-F76C2D231FF5}" srcOrd="10" destOrd="0" presId="urn:microsoft.com/office/officeart/2005/8/layout/vProcess5"/>
    <dgm:cxn modelId="{745E9EB6-CD99-AF43-BF5F-CA0F13F91472}" type="presParOf" srcId="{684021C7-E243-564D-9A15-49A9C2F5417A}" destId="{0F8460B4-AF01-D348-911D-58F0F81947CE}" srcOrd="11" destOrd="0" presId="urn:microsoft.com/office/officeart/2005/8/layout/vProcess5"/>
    <dgm:cxn modelId="{D0A47A09-90D0-4A44-853A-BC40C03FE9E9}" type="presParOf" srcId="{684021C7-E243-564D-9A15-49A9C2F5417A}" destId="{A13DD4C3-7F71-B246-8335-8E52B43ADCB4}" srcOrd="12" destOrd="0" presId="urn:microsoft.com/office/officeart/2005/8/layout/vProcess5"/>
    <dgm:cxn modelId="{ED4BD6A1-F0DC-C442-910F-6B7C948E2D9F}" type="presParOf" srcId="{684021C7-E243-564D-9A15-49A9C2F5417A}" destId="{299BCE8D-F730-8A43-A932-4956F002FF5F}" srcOrd="13" destOrd="0" presId="urn:microsoft.com/office/officeart/2005/8/layout/vProcess5"/>
    <dgm:cxn modelId="{A1D4D2E9-1A8F-B84C-8CBC-D79FB58C0630}" type="presParOf" srcId="{684021C7-E243-564D-9A15-49A9C2F5417A}" destId="{8E07EBFC-ABDC-EE4E-8393-FDDCA9302FD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17642-AE4B-9847-B9E5-38C473E7E7CD}">
      <dsp:nvSpPr>
        <dsp:cNvPr id="0" name=""/>
        <dsp:cNvSpPr/>
      </dsp:nvSpPr>
      <dsp:spPr>
        <a:xfrm>
          <a:off x="31100" y="0"/>
          <a:ext cx="7604150" cy="6998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 err="1"/>
            <a:t>Ingest</a:t>
          </a:r>
          <a:r>
            <a:rPr lang="it-IT" sz="1900" kern="1200" dirty="0"/>
            <a:t> live </a:t>
          </a:r>
          <a:r>
            <a:rPr lang="it-IT" sz="1900" kern="1200" dirty="0" err="1"/>
            <a:t>measurements</a:t>
          </a:r>
          <a:r>
            <a:rPr lang="it-IT" sz="1900" kern="1200" dirty="0"/>
            <a:t> from an </a:t>
          </a:r>
          <a:r>
            <a:rPr lang="it-IT" sz="1900" kern="1200" dirty="0" err="1"/>
            <a:t>external</a:t>
          </a:r>
          <a:r>
            <a:rPr lang="it-IT" sz="1900" kern="1200" dirty="0"/>
            <a:t> </a:t>
          </a:r>
          <a:r>
            <a:rPr lang="it-IT" sz="1900" kern="1200" dirty="0" err="1"/>
            <a:t>seismic</a:t>
          </a:r>
          <a:r>
            <a:rPr lang="it-IT" sz="1900" kern="1200" dirty="0"/>
            <a:t> simulator.</a:t>
          </a:r>
          <a:endParaRPr lang="en-US" sz="1900" kern="1200" dirty="0"/>
        </a:p>
      </dsp:txBody>
      <dsp:txXfrm>
        <a:off x="51599" y="20499"/>
        <a:ext cx="6767034" cy="658885"/>
      </dsp:txXfrm>
    </dsp:sp>
    <dsp:sp modelId="{CF997BE2-8467-8943-842E-468B181EAB99}">
      <dsp:nvSpPr>
        <dsp:cNvPr id="0" name=""/>
        <dsp:cNvSpPr/>
      </dsp:nvSpPr>
      <dsp:spPr>
        <a:xfrm>
          <a:off x="567842" y="797090"/>
          <a:ext cx="7604150" cy="6998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Redistribute a normalized stream to replicated processing nodes</a:t>
          </a:r>
          <a:endParaRPr lang="en-US" sz="1900" kern="1200"/>
        </a:p>
      </dsp:txBody>
      <dsp:txXfrm>
        <a:off x="588341" y="817589"/>
        <a:ext cx="6540385" cy="658885"/>
      </dsp:txXfrm>
    </dsp:sp>
    <dsp:sp modelId="{4C610171-9237-624F-B5F9-E74EE0CD7CCC}">
      <dsp:nvSpPr>
        <dsp:cNvPr id="0" name=""/>
        <dsp:cNvSpPr/>
      </dsp:nvSpPr>
      <dsp:spPr>
        <a:xfrm>
          <a:off x="1135684" y="1594180"/>
          <a:ext cx="7604150" cy="6998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Classify events through FFT-based frequency analysis.</a:t>
          </a:r>
          <a:endParaRPr lang="en-US" sz="1900" kern="1200"/>
        </a:p>
      </dsp:txBody>
      <dsp:txXfrm>
        <a:off x="1156183" y="1614679"/>
        <a:ext cx="6540385" cy="658885"/>
      </dsp:txXfrm>
    </dsp:sp>
    <dsp:sp modelId="{33BBDCA7-13DE-D841-97C5-4EB9BF91FE53}">
      <dsp:nvSpPr>
        <dsp:cNvPr id="0" name=""/>
        <dsp:cNvSpPr/>
      </dsp:nvSpPr>
      <dsp:spPr>
        <a:xfrm>
          <a:off x="1703527" y="2391270"/>
          <a:ext cx="7604150" cy="6998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Persist consolidated results in PostgreSQL.</a:t>
          </a:r>
          <a:endParaRPr lang="en-US" sz="1900" kern="1200"/>
        </a:p>
      </dsp:txBody>
      <dsp:txXfrm>
        <a:off x="1724026" y="2411769"/>
        <a:ext cx="6540385" cy="658885"/>
      </dsp:txXfrm>
    </dsp:sp>
    <dsp:sp modelId="{51B5E0C6-F7C5-9846-A789-DDE29A9CABB7}">
      <dsp:nvSpPr>
        <dsp:cNvPr id="0" name=""/>
        <dsp:cNvSpPr/>
      </dsp:nvSpPr>
      <dsp:spPr>
        <a:xfrm>
          <a:off x="2271369" y="3188360"/>
          <a:ext cx="7604150" cy="6998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Expose live and historical visibility through a single dashboard.</a:t>
          </a:r>
          <a:endParaRPr lang="en-US" sz="1900" kern="1200"/>
        </a:p>
      </dsp:txBody>
      <dsp:txXfrm>
        <a:off x="2291868" y="3208859"/>
        <a:ext cx="6540385" cy="658885"/>
      </dsp:txXfrm>
    </dsp:sp>
    <dsp:sp modelId="{8FC94447-3ADF-444D-8D80-EF5E91455B63}">
      <dsp:nvSpPr>
        <dsp:cNvPr id="0" name=""/>
        <dsp:cNvSpPr/>
      </dsp:nvSpPr>
      <dsp:spPr>
        <a:xfrm>
          <a:off x="7149225" y="511304"/>
          <a:ext cx="454924" cy="4549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251583" y="511304"/>
        <a:ext cx="250208" cy="342330"/>
      </dsp:txXfrm>
    </dsp:sp>
    <dsp:sp modelId="{C5B120F9-8843-DF42-B438-37E3002613FE}">
      <dsp:nvSpPr>
        <dsp:cNvPr id="0" name=""/>
        <dsp:cNvSpPr/>
      </dsp:nvSpPr>
      <dsp:spPr>
        <a:xfrm>
          <a:off x="7717068" y="1308394"/>
          <a:ext cx="454924" cy="4549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819426" y="1308394"/>
        <a:ext cx="250208" cy="342330"/>
      </dsp:txXfrm>
    </dsp:sp>
    <dsp:sp modelId="{39C67077-9345-DD44-8A69-9A1D001A1F61}">
      <dsp:nvSpPr>
        <dsp:cNvPr id="0" name=""/>
        <dsp:cNvSpPr/>
      </dsp:nvSpPr>
      <dsp:spPr>
        <a:xfrm>
          <a:off x="8284910" y="2093819"/>
          <a:ext cx="454924" cy="4549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387268" y="2093819"/>
        <a:ext cx="250208" cy="342330"/>
      </dsp:txXfrm>
    </dsp:sp>
    <dsp:sp modelId="{1DA43963-A724-854E-A9D7-999324FCF870}">
      <dsp:nvSpPr>
        <dsp:cNvPr id="0" name=""/>
        <dsp:cNvSpPr/>
      </dsp:nvSpPr>
      <dsp:spPr>
        <a:xfrm>
          <a:off x="8852753" y="2898685"/>
          <a:ext cx="454924" cy="4549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955111" y="2898685"/>
        <a:ext cx="250208" cy="342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7128" y="420624"/>
            <a:ext cx="35039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1600" dirty="0" err="1">
                <a:solidFill>
                  <a:srgbClr val="804A35"/>
                </a:solidFill>
                <a:latin typeface="Aptos"/>
              </a:rPr>
              <a:t>Laboratory</a:t>
            </a:r>
            <a:r>
              <a:rPr lang="it-IT" sz="1600" dirty="0">
                <a:solidFill>
                  <a:srgbClr val="804A35"/>
                </a:solidFill>
                <a:latin typeface="Aptos"/>
              </a:rPr>
              <a:t> of Advanced Programming</a:t>
            </a:r>
            <a:endParaRPr sz="1600" dirty="0">
              <a:solidFill>
                <a:srgbClr val="804A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851233"/>
            <a:ext cx="92152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1D1D1D"/>
                </a:solidFill>
                <a:latin typeface="Georgia"/>
              </a:rPr>
              <a:t>Distributed Fault-Tolerant Seismic Analysis Platform</a:t>
            </a:r>
            <a:endParaRPr lang="it-IT" sz="2400" b="1" dirty="0">
              <a:solidFill>
                <a:srgbClr val="1D1D1D"/>
              </a:solidFill>
              <a:latin typeface="Georgia"/>
            </a:endParaRPr>
          </a:p>
          <a:p>
            <a:r>
              <a:rPr lang="it-IT" dirty="0">
                <a:solidFill>
                  <a:srgbClr val="1D1D1D"/>
                </a:solidFill>
                <a:latin typeface="Georgia"/>
              </a:rPr>
              <a:t>By </a:t>
            </a:r>
            <a:r>
              <a:rPr lang="it-IT" b="1" dirty="0">
                <a:solidFill>
                  <a:srgbClr val="1D1D1D"/>
                </a:solidFill>
                <a:latin typeface="Georgia"/>
              </a:rPr>
              <a:t>LTM</a:t>
            </a:r>
            <a:r>
              <a:rPr lang="it-IT" dirty="0">
                <a:solidFill>
                  <a:srgbClr val="1D1D1D"/>
                </a:solidFill>
                <a:latin typeface="Georgia"/>
              </a:rPr>
              <a:t> group</a:t>
            </a:r>
            <a:endParaRPr dirty="0">
              <a:solidFill>
                <a:srgbClr val="1D1D1D"/>
              </a:solidFill>
              <a:latin typeface="Georgi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038098-75A2-7C5C-7E15-851E06C37104}"/>
              </a:ext>
            </a:extLst>
          </p:cNvPr>
          <p:cNvSpPr/>
          <p:nvPr/>
        </p:nvSpPr>
        <p:spPr>
          <a:xfrm>
            <a:off x="321395" y="346067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AB5140C-F2C1-1FE1-02E4-F5F195A5B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082" y="1428302"/>
            <a:ext cx="4536798" cy="488156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5F2BD54-195F-907E-1B8F-FA2B8E99C565}"/>
              </a:ext>
            </a:extLst>
          </p:cNvPr>
          <p:cNvSpPr txBox="1"/>
          <p:nvPr/>
        </p:nvSpPr>
        <p:spPr>
          <a:xfrm>
            <a:off x="548640" y="4280645"/>
            <a:ext cx="41861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Students:</a:t>
            </a:r>
          </a:p>
          <a:p>
            <a:r>
              <a:rPr lang="it-IT" b="1" dirty="0"/>
              <a:t>Giorgini Tommaso </a:t>
            </a:r>
            <a:r>
              <a:rPr lang="it-IT" dirty="0"/>
              <a:t>1998519                 </a:t>
            </a:r>
            <a:r>
              <a:rPr lang="it-IT" b="1" dirty="0" err="1"/>
              <a:t>Maucione</a:t>
            </a:r>
            <a:r>
              <a:rPr lang="it-IT" b="1" dirty="0"/>
              <a:t> Mattia</a:t>
            </a:r>
            <a:r>
              <a:rPr lang="it-IT" dirty="0"/>
              <a:t> 2007209                 </a:t>
            </a:r>
            <a:r>
              <a:rPr lang="it-IT" b="1" dirty="0"/>
              <a:t>Balducci Lorenzo </a:t>
            </a:r>
            <a:r>
              <a:rPr lang="it-IT" dirty="0"/>
              <a:t>1993639</a:t>
            </a:r>
          </a:p>
          <a:p>
            <a:r>
              <a:rPr lang="it-IT" dirty="0" err="1"/>
              <a:t>Submitted</a:t>
            </a:r>
            <a:r>
              <a:rPr lang="it-IT" dirty="0"/>
              <a:t> to:</a:t>
            </a:r>
          </a:p>
          <a:p>
            <a:r>
              <a:rPr lang="it-IT" dirty="0"/>
              <a:t>Prof. </a:t>
            </a:r>
            <a:r>
              <a:rPr lang="it-IT" b="1" dirty="0"/>
              <a:t>Mecella Massimo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E33B8A0-6270-C8CE-8E6D-181F98C33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6937" y="-10500"/>
            <a:ext cx="2935063" cy="12193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39496"/>
            <a:ext cx="14462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2800" dirty="0">
                <a:solidFill>
                  <a:srgbClr val="1D1D1D"/>
                </a:solidFill>
                <a:latin typeface="Georgia"/>
              </a:rPr>
              <a:t>Mission</a:t>
            </a:r>
            <a:endParaRPr sz="2800" b="0" dirty="0">
              <a:solidFill>
                <a:srgbClr val="1D1D1D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9875520" cy="336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endParaRPr lang="it-IT" sz="1900" dirty="0">
              <a:solidFill>
                <a:srgbClr val="1D1D1D"/>
              </a:solidFill>
              <a:latin typeface="Aptos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1900" dirty="0" err="1">
                <a:solidFill>
                  <a:srgbClr val="1D1D1D"/>
                </a:solidFill>
                <a:latin typeface="Aptos"/>
              </a:rPr>
              <a:t>Raw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seismic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streams alone do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not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support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operational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decision-making.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it-IT" sz="1900" dirty="0">
              <a:solidFill>
                <a:srgbClr val="1D1D1D"/>
              </a:solidFill>
              <a:latin typeface="Aptos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1900" dirty="0" err="1">
                <a:solidFill>
                  <a:srgbClr val="1D1D1D"/>
                </a:solidFill>
                <a:latin typeface="Aptos"/>
              </a:rPr>
              <a:t>Our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platform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transforms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continuous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seismic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data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into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immediate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operational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value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by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detecting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suspicious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activity in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real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time,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classifying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it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consistently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, and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preserving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every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relevant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event for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later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investigation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it-IT" sz="1900" dirty="0">
              <a:solidFill>
                <a:srgbClr val="1D1D1D"/>
              </a:solidFill>
              <a:latin typeface="Aptos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1900" dirty="0" err="1">
                <a:solidFill>
                  <a:srgbClr val="1D1D1D"/>
                </a:solidFill>
                <a:latin typeface="Aptos"/>
              </a:rPr>
              <a:t>Even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when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one or more processing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nodes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become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unavailable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, the system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continues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to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deliver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insights,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historical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visibility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, and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reliable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monitoring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continuity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.</a:t>
            </a:r>
            <a:endParaRPr sz="1900" dirty="0">
              <a:solidFill>
                <a:srgbClr val="1D1D1D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ECB888-2164-383D-615B-7BC5D5D74D73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39496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Project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C87390-4622-BA71-FC60-F92CB2565E29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405274D0-38FC-B11B-3DE6-881C509B68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2852059"/>
              </p:ext>
            </p:extLst>
          </p:nvPr>
        </p:nvGraphicFramePr>
        <p:xfrm>
          <a:off x="868680" y="1645920"/>
          <a:ext cx="9875520" cy="3888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38912"/>
            <a:ext cx="29049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2800" dirty="0">
                <a:solidFill>
                  <a:srgbClr val="1D1D1D"/>
                </a:solidFill>
                <a:latin typeface="Georgia"/>
              </a:rPr>
              <a:t>System </a:t>
            </a:r>
            <a:r>
              <a:rPr lang="it-IT" sz="2800" dirty="0" err="1">
                <a:solidFill>
                  <a:srgbClr val="1D1D1D"/>
                </a:solidFill>
                <a:latin typeface="Georgia"/>
              </a:rPr>
              <a:t>Overview</a:t>
            </a:r>
            <a:endParaRPr sz="2800" b="0" dirty="0">
              <a:solidFill>
                <a:srgbClr val="1D1D1D"/>
              </a:solidFill>
              <a:latin typeface="Georgi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D992E4-49B1-BD0A-89DA-1CA6D68C32AC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A99C43B-3DC9-C142-C39F-0DB5E032A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19005"/>
            <a:ext cx="10618139" cy="46555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8138" y="483059"/>
            <a:ext cx="49696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2800" b="0" dirty="0">
                <a:solidFill>
                  <a:srgbClr val="1D1D1D"/>
                </a:solidFill>
                <a:latin typeface="Georgia"/>
              </a:rPr>
              <a:t>Broker </a:t>
            </a:r>
            <a:r>
              <a:rPr lang="it-IT" sz="2800" b="0" dirty="0" err="1">
                <a:solidFill>
                  <a:srgbClr val="1D1D1D"/>
                </a:solidFill>
                <a:latin typeface="Georgia"/>
              </a:rPr>
              <a:t>Ingestion</a:t>
            </a:r>
            <a:r>
              <a:rPr lang="it-IT" sz="2800" b="0" dirty="0">
                <a:solidFill>
                  <a:srgbClr val="1D1D1D"/>
                </a:solidFill>
                <a:latin typeface="Georgia"/>
              </a:rPr>
              <a:t> and Fan-Out</a:t>
            </a:r>
            <a:endParaRPr sz="2800" b="0" dirty="0">
              <a:solidFill>
                <a:srgbClr val="1D1D1D"/>
              </a:solidFill>
              <a:latin typeface="Georg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464953"/>
            <a:ext cx="2468880" cy="17531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39" y="1577139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" y="1878891"/>
            <a:ext cx="21396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rgbClr val="1D1D1D"/>
                </a:solidFill>
                <a:latin typeface="Aptos"/>
              </a:rPr>
              <a:t>The broker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discovers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available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sensors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from the simulator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through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GET /api/devices/</a:t>
            </a:r>
            <a:endParaRPr sz="1400" dirty="0">
              <a:solidFill>
                <a:srgbClr val="1D1D1D"/>
              </a:solidFill>
              <a:latin typeface="Aptos"/>
            </a:endParaRPr>
          </a:p>
        </p:txBody>
      </p:sp>
      <p:sp>
        <p:nvSpPr>
          <p:cNvPr id="7" name="Chevron 6"/>
          <p:cNvSpPr/>
          <p:nvPr/>
        </p:nvSpPr>
        <p:spPr>
          <a:xfrm>
            <a:off x="3149493" y="2149492"/>
            <a:ext cx="256032" cy="384048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12997" y="1464953"/>
            <a:ext cx="2468880" cy="17531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23309" y="1573108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3309" y="1874860"/>
            <a:ext cx="213969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rgbClr val="1D1D1D"/>
                </a:solidFill>
                <a:latin typeface="Aptos"/>
              </a:rPr>
              <a:t>It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opens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one upstream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WebSocket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stream for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each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sensor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and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continuously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receives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raw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seismic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samples.</a:t>
            </a:r>
            <a:endParaRPr sz="1400" dirty="0">
              <a:solidFill>
                <a:srgbClr val="1D1D1D"/>
              </a:solidFill>
              <a:latin typeface="Aptos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5924698" y="2149492"/>
            <a:ext cx="256032" cy="384048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01918" y="1464952"/>
            <a:ext cx="2468880" cy="17531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6510" y="1574681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3379" y="1885117"/>
            <a:ext cx="23042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rgbClr val="1D1D1D"/>
                </a:solidFill>
                <a:latin typeface="Aptos"/>
              </a:rPr>
              <a:t>Each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sample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is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normalized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into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a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shared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measurement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envelope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enriched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with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sensor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metadata and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timestamps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.</a:t>
            </a:r>
            <a:endParaRPr sz="1400" dirty="0">
              <a:solidFill>
                <a:srgbClr val="1D1D1D"/>
              </a:solidFill>
              <a:latin typeface="Aptos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8714847" y="2194900"/>
            <a:ext cx="256032" cy="384048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969207" y="1464953"/>
            <a:ext cx="2468880" cy="1753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20083" y="1574681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0083" y="1876433"/>
            <a:ext cx="213969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>
                <a:solidFill>
                  <a:srgbClr val="1D1D1D"/>
                </a:solidFill>
                <a:latin typeface="Aptos"/>
              </a:rPr>
              <a:t>The broker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broadcasts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the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same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envelope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to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every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connected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replica,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enabling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parallel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fault-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tolerant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processing.</a:t>
            </a:r>
            <a:endParaRPr sz="1400" dirty="0">
              <a:solidFill>
                <a:srgbClr val="1D1D1D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C33AAD-AB1B-A2B1-841C-E781C408CAAD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541EC85E-D20A-ABB8-42DF-E6AAEF3DB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637" y="3442753"/>
            <a:ext cx="6710337" cy="27797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75487"/>
            <a:ext cx="33297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2800" b="0" dirty="0">
                <a:solidFill>
                  <a:srgbClr val="1D1D1D"/>
                </a:solidFill>
                <a:latin typeface="Georgia"/>
              </a:rPr>
              <a:t>Broadcast </a:t>
            </a:r>
            <a:r>
              <a:rPr lang="it-IT" sz="2800" dirty="0" err="1">
                <a:solidFill>
                  <a:srgbClr val="1D1D1D"/>
                </a:solidFill>
                <a:latin typeface="Georgia"/>
              </a:rPr>
              <a:t>E</a:t>
            </a:r>
            <a:r>
              <a:rPr lang="it-IT" sz="2800" b="0" dirty="0" err="1">
                <a:solidFill>
                  <a:srgbClr val="1D1D1D"/>
                </a:solidFill>
                <a:latin typeface="Georgia"/>
              </a:rPr>
              <a:t>nvelope</a:t>
            </a:r>
            <a:endParaRPr sz="2800" b="0" dirty="0">
              <a:solidFill>
                <a:srgbClr val="1D1D1D"/>
              </a:solidFill>
              <a:latin typeface="Georg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406140" y="1305017"/>
            <a:ext cx="5074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91356" y="1423888"/>
            <a:ext cx="343882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Measurement envelope</a:t>
            </a:r>
            <a:r>
              <a:rPr lang="it-IT" sz="1300" b="1" dirty="0">
                <a:solidFill>
                  <a:srgbClr val="24303B"/>
                </a:solidFill>
                <a:latin typeface="Aptos"/>
              </a:rPr>
              <a:t>: Broker </a:t>
            </a:r>
            <a:r>
              <a:rPr lang="it-IT" sz="1300" b="1" dirty="0">
                <a:solidFill>
                  <a:srgbClr val="24303B"/>
                </a:solidFill>
                <a:latin typeface="Aptos"/>
                <a:sym typeface="Wingdings" pitchFamily="2" charset="2"/>
              </a:rPr>
              <a:t> </a:t>
            </a:r>
            <a:r>
              <a:rPr lang="it-IT" sz="1300" b="1" dirty="0" err="1">
                <a:solidFill>
                  <a:srgbClr val="24303B"/>
                </a:solidFill>
                <a:latin typeface="Aptos"/>
                <a:sym typeface="Wingdings" pitchFamily="2" charset="2"/>
              </a:rPr>
              <a:t>Replicas</a:t>
            </a:r>
            <a:endParaRPr sz="1300" b="1" dirty="0">
              <a:solidFill>
                <a:srgbClr val="24303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70732" y="1716497"/>
            <a:ext cx="474573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70732" y="1835147"/>
            <a:ext cx="4709160" cy="3749039"/>
          </a:xfrm>
          <a:prstGeom prst="roundRect">
            <a:avLst/>
          </a:prstGeom>
          <a:solidFill>
            <a:srgbClr val="26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2159854"/>
            <a:ext cx="43891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{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sensor_id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"sensor-08",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sensor_name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"DC North 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Perimeter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category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"datacenter",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region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"Replica Datacenter",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coordinates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{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latitude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45.4642,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longitude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9.19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},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measurement_unit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"mm/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s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sampling_rate_hz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20.0,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timestamp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"2026-03-25T00:00:00.000000+00:00",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value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0.123456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}</a:t>
            </a:r>
            <a:endParaRPr sz="1200" dirty="0">
              <a:solidFill>
                <a:srgbClr val="E1E8E0"/>
              </a:solidFill>
              <a:latin typeface="Courier New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4C6414-281F-F6AE-4DF6-272338A7A62E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4531" y="501068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Replicated Processing and Fault Tolerance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10611" y="3096112"/>
            <a:ext cx="1645920" cy="822960"/>
          </a:xfrm>
          <a:prstGeom prst="roundRect">
            <a:avLst/>
          </a:prstGeom>
          <a:solidFill>
            <a:srgbClr val="E9DFD6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93491" y="3352144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latin typeface="Aptos"/>
              </a:rPr>
              <a:t>Broker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5210" y="3093949"/>
            <a:ext cx="1463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2370" y="33499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Aptos"/>
              </a:rPr>
              <a:t>Replica 1</a:t>
            </a:r>
          </a:p>
        </p:txBody>
      </p:sp>
      <p:sp>
        <p:nvSpPr>
          <p:cNvPr id="8" name="Chevron 7"/>
          <p:cNvSpPr/>
          <p:nvPr/>
        </p:nvSpPr>
        <p:spPr>
          <a:xfrm>
            <a:off x="4312721" y="3360501"/>
            <a:ext cx="228600" cy="320040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19110" y="1947672"/>
            <a:ext cx="1463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2856270" y="2180844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Aptos"/>
              </a:rPr>
              <a:t>Replica 2</a:t>
            </a:r>
          </a:p>
        </p:txBody>
      </p:sp>
      <p:sp>
        <p:nvSpPr>
          <p:cNvPr id="11" name="Chevron 10"/>
          <p:cNvSpPr/>
          <p:nvPr/>
        </p:nvSpPr>
        <p:spPr>
          <a:xfrm rot="16200000">
            <a:off x="3296411" y="2760684"/>
            <a:ext cx="228600" cy="320040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32960" y="3150976"/>
            <a:ext cx="1463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0120" y="3429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Aptos"/>
              </a:rPr>
              <a:t>Replica 3</a:t>
            </a:r>
          </a:p>
        </p:txBody>
      </p:sp>
      <p:sp>
        <p:nvSpPr>
          <p:cNvPr id="14" name="Chevron 13"/>
          <p:cNvSpPr/>
          <p:nvPr/>
        </p:nvSpPr>
        <p:spPr>
          <a:xfrm rot="10800000">
            <a:off x="2325131" y="3360500"/>
            <a:ext cx="228600" cy="320040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987590" y="4286866"/>
            <a:ext cx="1463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3052" y="4527395"/>
            <a:ext cx="10389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Aptos"/>
              </a:rPr>
              <a:t>Replica 5</a:t>
            </a:r>
          </a:p>
        </p:txBody>
      </p:sp>
      <p:sp>
        <p:nvSpPr>
          <p:cNvPr id="17" name="Chevron 16"/>
          <p:cNvSpPr/>
          <p:nvPr/>
        </p:nvSpPr>
        <p:spPr>
          <a:xfrm rot="5400000">
            <a:off x="3893821" y="3934460"/>
            <a:ext cx="228600" cy="320040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581201" y="4296698"/>
            <a:ext cx="1463040" cy="79484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93252" y="4548305"/>
            <a:ext cx="10389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Aptos"/>
              </a:rPr>
              <a:t>Replica 4</a:t>
            </a:r>
          </a:p>
        </p:txBody>
      </p:sp>
      <p:sp>
        <p:nvSpPr>
          <p:cNvPr id="20" name="Chevron 19"/>
          <p:cNvSpPr/>
          <p:nvPr/>
        </p:nvSpPr>
        <p:spPr>
          <a:xfrm rot="5400000">
            <a:off x="2839211" y="3928216"/>
            <a:ext cx="228600" cy="320040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2429" y="2398138"/>
            <a:ext cx="4575711" cy="25648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D1D1D"/>
                </a:solidFill>
                <a:latin typeface="Aptos"/>
              </a:rPr>
              <a:t>Five identical processing services receive the same measurement stream from the broker.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D1D1D"/>
                </a:solidFill>
                <a:latin typeface="Aptos"/>
              </a:rPr>
              <a:t>Each replica analyzes </a:t>
            </a:r>
            <a:r>
              <a:rPr lang="it-IT" sz="1600" dirty="0" err="1">
                <a:solidFill>
                  <a:srgbClr val="1D1D1D"/>
                </a:solidFill>
                <a:latin typeface="Aptos"/>
              </a:rPr>
              <a:t>all</a:t>
            </a:r>
            <a:r>
              <a:rPr lang="it-IT" sz="1600" dirty="0">
                <a:solidFill>
                  <a:srgbClr val="1D1D1D"/>
                </a:solidFill>
                <a:latin typeface="Aptos"/>
              </a:rPr>
              <a:t> </a:t>
            </a:r>
            <a:r>
              <a:rPr sz="1600" dirty="0">
                <a:solidFill>
                  <a:srgbClr val="1D1D1D"/>
                </a:solidFill>
                <a:latin typeface="Aptos"/>
              </a:rPr>
              <a:t>sensors independently and </a:t>
            </a:r>
            <a:r>
              <a:rPr lang="it-IT" sz="1600" dirty="0" err="1">
                <a:solidFill>
                  <a:srgbClr val="1D1D1D"/>
                </a:solidFill>
                <a:latin typeface="Aptos"/>
              </a:rPr>
              <a:t>will</a:t>
            </a:r>
            <a:r>
              <a:rPr sz="1600" dirty="0">
                <a:solidFill>
                  <a:srgbClr val="1D1D1D"/>
                </a:solidFill>
                <a:latin typeface="Aptos"/>
              </a:rPr>
              <a:t> detect the same event</a:t>
            </a:r>
            <a:r>
              <a:rPr lang="it-IT" sz="1600" dirty="0">
                <a:solidFill>
                  <a:srgbClr val="1D1D1D"/>
                </a:solidFill>
                <a:latin typeface="Aptos"/>
              </a:rPr>
              <a:t>s. 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D1D1D"/>
                </a:solidFill>
                <a:latin typeface="Aptos"/>
              </a:rPr>
              <a:t>Replica failures</a:t>
            </a:r>
            <a:r>
              <a:rPr lang="it-IT" sz="16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600" dirty="0" err="1">
                <a:solidFill>
                  <a:srgbClr val="1D1D1D"/>
                </a:solidFill>
                <a:latin typeface="Aptos"/>
              </a:rPr>
              <a:t>don’t</a:t>
            </a:r>
            <a:r>
              <a:rPr lang="it-IT" sz="1600" dirty="0">
                <a:solidFill>
                  <a:srgbClr val="1D1D1D"/>
                </a:solidFill>
                <a:latin typeface="Aptos"/>
              </a:rPr>
              <a:t> reduce throughput of the system </a:t>
            </a:r>
            <a:r>
              <a:rPr lang="it-IT" sz="1600" dirty="0" err="1">
                <a:solidFill>
                  <a:srgbClr val="1D1D1D"/>
                </a:solidFill>
                <a:latin typeface="Aptos"/>
              </a:rPr>
              <a:t>until</a:t>
            </a:r>
            <a:r>
              <a:rPr lang="it-IT" sz="16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600" dirty="0" err="1">
                <a:solidFill>
                  <a:srgbClr val="1D1D1D"/>
                </a:solidFill>
                <a:latin typeface="Aptos"/>
              </a:rPr>
              <a:t>there</a:t>
            </a:r>
            <a:r>
              <a:rPr lang="it-IT" sz="16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600" dirty="0" err="1">
                <a:solidFill>
                  <a:srgbClr val="1D1D1D"/>
                </a:solidFill>
                <a:latin typeface="Aptos"/>
              </a:rPr>
              <a:t>is</a:t>
            </a:r>
            <a:r>
              <a:rPr lang="it-IT" sz="1600" dirty="0">
                <a:solidFill>
                  <a:srgbClr val="1D1D1D"/>
                </a:solidFill>
                <a:latin typeface="Aptos"/>
              </a:rPr>
              <a:t> no replica </a:t>
            </a:r>
            <a:r>
              <a:rPr lang="it-IT" sz="1600" dirty="0" err="1">
                <a:solidFill>
                  <a:srgbClr val="1D1D1D"/>
                </a:solidFill>
                <a:latin typeface="Aptos"/>
              </a:rPr>
              <a:t>alive</a:t>
            </a:r>
            <a:r>
              <a:rPr lang="it-IT" sz="1600" dirty="0">
                <a:solidFill>
                  <a:srgbClr val="1D1D1D"/>
                </a:solidFill>
                <a:latin typeface="Aptos"/>
              </a:rPr>
              <a:t>: </a:t>
            </a:r>
            <a:r>
              <a:rPr sz="1600" dirty="0">
                <a:solidFill>
                  <a:srgbClr val="1D1D1D"/>
                </a:solidFill>
                <a:latin typeface="Aptos"/>
              </a:rPr>
              <a:t>healthy nodes keep forwarding detections to the gateway</a:t>
            </a:r>
            <a:r>
              <a:rPr lang="it-IT" sz="1600" dirty="0">
                <a:solidFill>
                  <a:srgbClr val="1D1D1D"/>
                </a:solidFill>
                <a:latin typeface="Aptos"/>
              </a:rPr>
              <a:t>.</a:t>
            </a:r>
            <a:endParaRPr sz="1600" dirty="0">
              <a:solidFill>
                <a:srgbClr val="1D1D1D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0663EE-691D-492D-7EAE-4A6BA24311D9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7009" y="5257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Detection and Classification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4592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7830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804A35"/>
                </a:solidFill>
                <a:latin typeface="Georgia"/>
              </a:rP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11813"/>
            <a:ext cx="171232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656056"/>
                </a:solidFill>
                <a:latin typeface="Aptos"/>
              </a:rPr>
              <a:t>samples per sliding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64592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19272" y="17830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804A35"/>
                </a:solidFill>
                <a:latin typeface="Georgia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308775"/>
            <a:ext cx="18288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656056"/>
                </a:solidFill>
                <a:latin typeface="Aptos"/>
              </a:rPr>
              <a:t>new samples between analyses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164592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05272" y="17830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solidFill>
                  <a:srgbClr val="804A35"/>
                </a:solidFill>
                <a:latin typeface="Georgia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3252" y="2288093"/>
            <a:ext cx="1932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656056"/>
                </a:solidFill>
                <a:latin typeface="Aptos"/>
              </a:rPr>
              <a:t>cooldown samples after a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45920"/>
            <a:ext cx="2880360" cy="123444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9871" y="1755648"/>
            <a:ext cx="2551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Noise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2124974"/>
            <a:ext cx="2715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D1D1D"/>
                </a:solidFill>
                <a:latin typeface="Aptos"/>
              </a:rPr>
              <a:t>Ignore frequencies below 0.5 Hz and amplitudes below 0.01 mm/s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83280"/>
            <a:ext cx="2743200" cy="731520"/>
          </a:xfrm>
          <a:prstGeom prst="round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5478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0.5 - 3.0 Hz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3383280"/>
            <a:ext cx="6400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0520" y="3547872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D1D1D"/>
                </a:solidFill>
                <a:latin typeface="Aptos"/>
              </a:rPr>
              <a:t>Earthquake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261104"/>
            <a:ext cx="2743200" cy="731520"/>
          </a:xfrm>
          <a:prstGeom prst="roundRect">
            <a:avLst/>
          </a:prstGeom>
          <a:solidFill>
            <a:srgbClr val="24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425696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3.0 - 8.0 Hz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4261104"/>
            <a:ext cx="6400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0520" y="4425696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D1D1D"/>
                </a:solidFill>
                <a:latin typeface="Aptos"/>
              </a:rPr>
              <a:t>Conventional explosion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38928"/>
            <a:ext cx="2743200" cy="731520"/>
          </a:xfrm>
          <a:prstGeom prst="roundRect">
            <a:avLst/>
          </a:prstGeom>
          <a:solidFill>
            <a:srgbClr val="3E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3035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&gt;= 8.0 Hz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5138928"/>
            <a:ext cx="6400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60520" y="530352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D1D1D"/>
                </a:solidFill>
                <a:latin typeface="Aptos"/>
              </a:rPr>
              <a:t>Nuclear-like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F82BFE-6C8E-A772-7CE3-64D6131A5B18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2527" y="481538"/>
            <a:ext cx="61029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Gateway</a:t>
            </a:r>
            <a:r>
              <a:rPr lang="it-IT" sz="2800" b="0" dirty="0">
                <a:solidFill>
                  <a:srgbClr val="1D1D1D"/>
                </a:solidFill>
                <a:latin typeface="Georgia"/>
              </a:rPr>
              <a:t>: </a:t>
            </a:r>
            <a:r>
              <a:rPr lang="it-IT" sz="2800" b="0" dirty="0" err="1">
                <a:solidFill>
                  <a:srgbClr val="1D1D1D"/>
                </a:solidFill>
                <a:latin typeface="Georgia"/>
              </a:rPr>
              <a:t>Replicas</a:t>
            </a:r>
            <a:r>
              <a:rPr lang="it-IT" sz="2800" b="0" dirty="0">
                <a:solidFill>
                  <a:srgbClr val="1D1D1D"/>
                </a:solidFill>
                <a:latin typeface="Georgia"/>
              </a:rPr>
              <a:t> and </a:t>
            </a:r>
            <a:r>
              <a:rPr lang="it-IT" sz="2800" dirty="0" err="1">
                <a:solidFill>
                  <a:srgbClr val="1D1D1D"/>
                </a:solidFill>
                <a:latin typeface="Georgia"/>
              </a:rPr>
              <a:t>D</a:t>
            </a:r>
            <a:r>
              <a:rPr lang="it-IT" sz="2800" b="0" dirty="0" err="1">
                <a:solidFill>
                  <a:srgbClr val="1D1D1D"/>
                </a:solidFill>
                <a:latin typeface="Georgia"/>
              </a:rPr>
              <a:t>eduplication</a:t>
            </a:r>
            <a:endParaRPr sz="2800" b="0" dirty="0">
              <a:solidFill>
                <a:srgbClr val="1D1D1D"/>
              </a:solidFill>
              <a:latin typeface="Georgi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0" y="1932989"/>
            <a:ext cx="4023360" cy="1051560"/>
          </a:xfrm>
          <a:prstGeom prst="roundRect">
            <a:avLst/>
          </a:prstGeom>
          <a:solidFill>
            <a:srgbClr val="26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78130" y="2104265"/>
            <a:ext cx="35317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E1E8E0"/>
                </a:solidFill>
                <a:latin typeface="Courier New"/>
              </a:rPr>
              <a:t>POST /api/sensors + POST /api/events</a:t>
            </a:r>
            <a:endParaRPr lang="it-IT" sz="1200" dirty="0">
              <a:solidFill>
                <a:srgbClr val="E1E8E0"/>
              </a:solidFill>
              <a:latin typeface="Courier New"/>
            </a:endParaRPr>
          </a:p>
          <a:p>
            <a:pPr algn="ctr"/>
            <a:endParaRPr lang="it-IT" sz="1200" dirty="0">
              <a:solidFill>
                <a:srgbClr val="E1E8E0"/>
              </a:solidFill>
              <a:latin typeface="Courier New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0" y="3210193"/>
            <a:ext cx="4023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14613" y="3333135"/>
            <a:ext cx="38587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rgbClr val="1D1D1D"/>
                </a:solidFill>
                <a:latin typeface="Aptos"/>
              </a:rPr>
              <a:t>Deduplicate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the multiple events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received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from the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different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replicas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on the UNIQUE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events.event_id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key, for duplicate-safe storage</a:t>
            </a:r>
            <a:endParaRPr sz="1400" dirty="0">
              <a:solidFill>
                <a:srgbClr val="1D1D1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32320" y="4350237"/>
            <a:ext cx="4023360" cy="114062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96912" y="4459965"/>
            <a:ext cx="121700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1300" b="1" dirty="0">
                <a:solidFill>
                  <a:srgbClr val="24303B"/>
                </a:solidFill>
                <a:latin typeface="Aptos"/>
              </a:rPr>
              <a:t>Health Check</a:t>
            </a:r>
            <a:endParaRPr sz="1300" b="1" dirty="0">
              <a:solidFill>
                <a:srgbClr val="24303B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96910" y="4746675"/>
            <a:ext cx="36941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rgbClr val="1D1D1D"/>
                </a:solidFill>
                <a:latin typeface="Aptos"/>
              </a:rPr>
              <a:t>Periodically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ask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(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every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5s)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each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 replica for an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heartbeat</a:t>
            </a:r>
            <a:endParaRPr sz="1400" dirty="0">
              <a:solidFill>
                <a:srgbClr val="1D1D1D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BA31EF-C357-A028-A693-2EC32C30DB5D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0ECC8F27-B96B-D2AD-11D6-FEB924B58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0171"/>
            <a:ext cx="5831564" cy="4394802"/>
          </a:xfrm>
          <a:prstGeom prst="rect">
            <a:avLst/>
          </a:prstGeom>
        </p:spPr>
      </p:pic>
      <p:sp>
        <p:nvSpPr>
          <p:cNvPr id="23" name="TextBox 8">
            <a:extLst>
              <a:ext uri="{FF2B5EF4-FFF2-40B4-BE49-F238E27FC236}">
                <a16:creationId xmlns:a16="http://schemas.microsoft.com/office/drawing/2014/main" id="{2A464F56-99C1-123D-D354-89050E187F35}"/>
              </a:ext>
            </a:extLst>
          </p:cNvPr>
          <p:cNvSpPr txBox="1"/>
          <p:nvPr/>
        </p:nvSpPr>
        <p:spPr>
          <a:xfrm>
            <a:off x="7378130" y="2453621"/>
            <a:ext cx="38587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chemeClr val="bg1"/>
                </a:solidFill>
                <a:latin typeface="Aptos"/>
              </a:rPr>
              <a:t>Gets</a:t>
            </a:r>
            <a:r>
              <a:rPr lang="it-IT" sz="1400" dirty="0">
                <a:solidFill>
                  <a:schemeClr val="bg1"/>
                </a:solidFill>
                <a:latin typeface="Aptos"/>
              </a:rPr>
              <a:t> </a:t>
            </a:r>
            <a:r>
              <a:rPr lang="it-IT" sz="1400" dirty="0" err="1">
                <a:solidFill>
                  <a:schemeClr val="bg1"/>
                </a:solidFill>
                <a:latin typeface="Aptos"/>
              </a:rPr>
              <a:t>sensor</a:t>
            </a:r>
            <a:r>
              <a:rPr lang="it-IT" sz="1400" dirty="0">
                <a:solidFill>
                  <a:schemeClr val="bg1"/>
                </a:solidFill>
                <a:latin typeface="Aptos"/>
              </a:rPr>
              <a:t> and event data from the </a:t>
            </a:r>
            <a:r>
              <a:rPr lang="it-IT" sz="1400" dirty="0" err="1">
                <a:solidFill>
                  <a:schemeClr val="bg1"/>
                </a:solidFill>
                <a:latin typeface="Aptos"/>
              </a:rPr>
              <a:t>replicas</a:t>
            </a:r>
            <a:endParaRPr sz="1400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2989A0-61DB-9908-4D9F-B644AB0A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5D9136-083C-E482-A2B1-9DF49216F773}"/>
              </a:ext>
            </a:extLst>
          </p:cNvPr>
          <p:cNvSpPr txBox="1"/>
          <p:nvPr/>
        </p:nvSpPr>
        <p:spPr>
          <a:xfrm>
            <a:off x="548640" y="475487"/>
            <a:ext cx="41553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2800" dirty="0" err="1">
                <a:solidFill>
                  <a:srgbClr val="1D1D1D"/>
                </a:solidFill>
                <a:latin typeface="Georgia"/>
              </a:rPr>
              <a:t>Detected</a:t>
            </a:r>
            <a:r>
              <a:rPr lang="it-IT" sz="2800" dirty="0">
                <a:solidFill>
                  <a:srgbClr val="1D1D1D"/>
                </a:solidFill>
                <a:latin typeface="Georgia"/>
              </a:rPr>
              <a:t> Event </a:t>
            </a:r>
            <a:r>
              <a:rPr lang="it-IT" sz="2800" dirty="0" err="1">
                <a:solidFill>
                  <a:srgbClr val="1D1D1D"/>
                </a:solidFill>
                <a:latin typeface="Georgia"/>
              </a:rPr>
              <a:t>E</a:t>
            </a:r>
            <a:r>
              <a:rPr lang="it-IT" sz="2800" b="0" dirty="0" err="1">
                <a:solidFill>
                  <a:srgbClr val="1D1D1D"/>
                </a:solidFill>
                <a:latin typeface="Georgia"/>
              </a:rPr>
              <a:t>nvelope</a:t>
            </a:r>
            <a:endParaRPr sz="2800" b="0" dirty="0">
              <a:solidFill>
                <a:srgbClr val="1D1D1D"/>
              </a:solidFill>
              <a:latin typeface="Georgia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E93B55-1AED-7DF9-BF04-89E3197DCD22}"/>
              </a:ext>
            </a:extLst>
          </p:cNvPr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A3BB4F-3C97-4D4B-F4EE-45699866432D}"/>
              </a:ext>
            </a:extLst>
          </p:cNvPr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063B03-E1D9-AD04-E003-6132B144CE37}"/>
              </a:ext>
            </a:extLst>
          </p:cNvPr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378AB8-31FF-4578-458C-0A9DF47131FB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21A667F8-0612-85A9-084D-AD9A4B193046}"/>
              </a:ext>
            </a:extLst>
          </p:cNvPr>
          <p:cNvSpPr/>
          <p:nvPr/>
        </p:nvSpPr>
        <p:spPr>
          <a:xfrm>
            <a:off x="3807460" y="1445758"/>
            <a:ext cx="4983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60298CE-8FE6-4E0E-EA13-013098B6A6DD}"/>
              </a:ext>
            </a:extLst>
          </p:cNvPr>
          <p:cNvSpPr txBox="1"/>
          <p:nvPr/>
        </p:nvSpPr>
        <p:spPr>
          <a:xfrm>
            <a:off x="4410964" y="1564629"/>
            <a:ext cx="362015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Detected event envelope</a:t>
            </a:r>
            <a:r>
              <a:rPr lang="it-IT" sz="1300" b="1" dirty="0">
                <a:solidFill>
                  <a:srgbClr val="24303B"/>
                </a:solidFill>
                <a:latin typeface="Aptos"/>
              </a:rPr>
              <a:t>: Replica </a:t>
            </a:r>
            <a:r>
              <a:rPr lang="it-IT" sz="1300" b="1" dirty="0">
                <a:solidFill>
                  <a:srgbClr val="24303B"/>
                </a:solidFill>
                <a:latin typeface="Aptos"/>
                <a:sym typeface="Wingdings" pitchFamily="2" charset="2"/>
              </a:rPr>
              <a:t> Gateway</a:t>
            </a:r>
            <a:endParaRPr sz="1300" b="1" dirty="0">
              <a:solidFill>
                <a:srgbClr val="24303B"/>
              </a:solidFill>
              <a:latin typeface="Apto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3712715-6FB6-F8E2-79E2-73214499B3BF}"/>
              </a:ext>
            </a:extLst>
          </p:cNvPr>
          <p:cNvSpPr txBox="1"/>
          <p:nvPr/>
        </p:nvSpPr>
        <p:spPr>
          <a:xfrm>
            <a:off x="3972052" y="1857238"/>
            <a:ext cx="465429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4EC28728-26A2-57CD-C0A2-5533B5291975}"/>
              </a:ext>
            </a:extLst>
          </p:cNvPr>
          <p:cNvSpPr/>
          <p:nvPr/>
        </p:nvSpPr>
        <p:spPr>
          <a:xfrm>
            <a:off x="3972052" y="1989827"/>
            <a:ext cx="4709160" cy="3749039"/>
          </a:xfrm>
          <a:prstGeom prst="roundRect">
            <a:avLst/>
          </a:prstGeom>
          <a:solidFill>
            <a:srgbClr val="26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03298A3-0001-FCD6-EDBC-9E4A86A3782F}"/>
              </a:ext>
            </a:extLst>
          </p:cNvPr>
          <p:cNvSpPr txBox="1"/>
          <p:nvPr/>
        </p:nvSpPr>
        <p:spPr>
          <a:xfrm>
            <a:off x="4132072" y="2156186"/>
            <a:ext cx="43891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{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event_id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"sha256(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sensor_id|timestamp|event_type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)",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sensor_id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"sensor-08",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sensor_name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"DC North 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Perimeter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category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"datacenter",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region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"Replica Datacenter",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coordinates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{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latitude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45.4642,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longitude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9.19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},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measurement_unit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"mm/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s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event_type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earthquake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last_sample_timestamp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"2026-03-25T00:00:09.950000+00:00",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peak_frequency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1.6,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lang="it-IT" sz="1200" dirty="0" err="1">
                <a:solidFill>
                  <a:srgbClr val="E1E8E0"/>
                </a:solidFill>
                <a:latin typeface="Courier New"/>
              </a:rPr>
              <a:t>peak_amplitude</a:t>
            </a:r>
            <a:r>
              <a:rPr lang="it-IT" sz="1200" dirty="0">
                <a:solidFill>
                  <a:srgbClr val="E1E8E0"/>
                </a:solidFill>
                <a:latin typeface="Courier New"/>
              </a:rPr>
              <a:t>": 4.0</a:t>
            </a:r>
          </a:p>
          <a:p>
            <a:pPr>
              <a:spcAft>
                <a:spcPts val="0"/>
              </a:spcAft>
            </a:pPr>
            <a:r>
              <a:rPr lang="it-IT" sz="1200" dirty="0">
                <a:solidFill>
                  <a:srgbClr val="E1E8E0"/>
                </a:solidFill>
                <a:latin typeface="Courier New"/>
              </a:rPr>
              <a:t>}</a:t>
            </a:r>
            <a:endParaRPr sz="1200" dirty="0">
              <a:solidFill>
                <a:srgbClr val="E1E8E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23950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29768"/>
            <a:ext cx="51187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2800" b="0" dirty="0">
                <a:solidFill>
                  <a:srgbClr val="1D1D1D"/>
                </a:solidFill>
                <a:latin typeface="Georgia"/>
              </a:rPr>
              <a:t>Gateway: Database &amp; </a:t>
            </a:r>
            <a:r>
              <a:rPr lang="it-IT" sz="2800" b="0" dirty="0" err="1">
                <a:solidFill>
                  <a:srgbClr val="1D1D1D"/>
                </a:solidFill>
                <a:latin typeface="Georgia"/>
              </a:rPr>
              <a:t>Frontend</a:t>
            </a:r>
            <a:endParaRPr sz="2800" b="0" dirty="0">
              <a:solidFill>
                <a:srgbClr val="1D1D1D"/>
              </a:solidFill>
              <a:latin typeface="Georgia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14</a:t>
            </a:r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2E36BD8E-24DC-6F2D-565E-71D160C35D24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7031EB43-9763-6E12-45A8-C60A7B375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4280"/>
            <a:ext cx="5922952" cy="4027935"/>
          </a:xfrm>
          <a:prstGeom prst="rect">
            <a:avLst/>
          </a:prstGeom>
        </p:spPr>
      </p:pic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73261240-3444-860E-C80C-6158247D8109}"/>
              </a:ext>
            </a:extLst>
          </p:cNvPr>
          <p:cNvSpPr txBox="1"/>
          <p:nvPr/>
        </p:nvSpPr>
        <p:spPr>
          <a:xfrm>
            <a:off x="6784012" y="2438512"/>
            <a:ext cx="501445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PostgreSQL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stores the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persistent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platform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state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through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two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tables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: 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sensors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 and 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latin typeface="Aptos" panose="020B0004020202020204" pitchFamily="34" charset="0"/>
              <a:cs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The gateway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writes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deduplicated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sensor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and event data to the database and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reads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the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same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persisted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data to serve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frontend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latin typeface="Aptos" panose="020B0004020202020204" pitchFamily="34" charset="0"/>
              <a:cs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Every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historical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query, event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detail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request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,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sensor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list, and live update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passes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it-IT" sz="1600" dirty="0" err="1">
                <a:latin typeface="Aptos" panose="020B0004020202020204" pitchFamily="34" charset="0"/>
                <a:cs typeface="Consolas" panose="020B0609020204030204" pitchFamily="49" charset="0"/>
              </a:rPr>
              <a:t>through</a:t>
            </a:r>
            <a:r>
              <a:rPr lang="it-IT" sz="1600" dirty="0">
                <a:latin typeface="Aptos" panose="020B0004020202020204" pitchFamily="34" charset="0"/>
                <a:cs typeface="Consolas" panose="020B0609020204030204" pitchFamily="49" charset="0"/>
              </a:rPr>
              <a:t> the gateway.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latin typeface="Aptos" panose="020B0004020202020204" pitchFamily="34" charset="0"/>
              <a:cs typeface="Consolas" panose="020B0609020204030204" pitchFamily="49" charset="0"/>
            </a:endParaRPr>
          </a:p>
          <a:p>
            <a:endParaRPr lang="it-IT" sz="1600" dirty="0">
              <a:latin typeface="Aptos" panose="020B0004020202020204" pitchFamily="34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7658" y="458132"/>
            <a:ext cx="41040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2800" b="0" dirty="0" err="1">
                <a:solidFill>
                  <a:srgbClr val="1D1D1D"/>
                </a:solidFill>
                <a:latin typeface="Georgia"/>
              </a:rPr>
              <a:t>Frontend</a:t>
            </a:r>
            <a:r>
              <a:rPr lang="it-IT" sz="2800" b="0" dirty="0">
                <a:solidFill>
                  <a:srgbClr val="1D1D1D"/>
                </a:solidFill>
                <a:latin typeface="Georgia"/>
              </a:rPr>
              <a:t>: </a:t>
            </a:r>
            <a:r>
              <a:rPr lang="it-IT" sz="2800" b="0" dirty="0" err="1">
                <a:solidFill>
                  <a:srgbClr val="1D1D1D"/>
                </a:solidFill>
                <a:latin typeface="Georgia"/>
              </a:rPr>
              <a:t>Sensors</a:t>
            </a:r>
            <a:r>
              <a:rPr lang="it-IT" sz="2800" b="0" dirty="0">
                <a:solidFill>
                  <a:srgbClr val="1D1D1D"/>
                </a:solidFill>
                <a:latin typeface="Georgia"/>
              </a:rPr>
              <a:t> </a:t>
            </a:r>
            <a:r>
              <a:rPr lang="it-IT" sz="2800" b="0" dirty="0" err="1">
                <a:solidFill>
                  <a:srgbClr val="1D1D1D"/>
                </a:solidFill>
                <a:latin typeface="Georgia"/>
              </a:rPr>
              <a:t>states</a:t>
            </a:r>
            <a:endParaRPr lang="it-IT" sz="2800" b="0" dirty="0">
              <a:solidFill>
                <a:srgbClr val="1D1D1D"/>
              </a:solidFill>
              <a:latin typeface="Georgia"/>
            </a:endParaRPr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706" y="1056856"/>
            <a:ext cx="8548734" cy="528672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15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94358AAB-D9DE-7895-18C8-0EF4AC51834B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99902"/>
            <a:ext cx="71400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2800" b="0" dirty="0" err="1">
                <a:solidFill>
                  <a:srgbClr val="1D1D1D"/>
                </a:solidFill>
                <a:latin typeface="Georgia"/>
              </a:rPr>
              <a:t>Frontend</a:t>
            </a:r>
            <a:r>
              <a:rPr lang="it-IT" sz="2800" b="0" dirty="0">
                <a:solidFill>
                  <a:srgbClr val="1D1D1D"/>
                </a:solidFill>
                <a:latin typeface="Georgia"/>
              </a:rPr>
              <a:t>: </a:t>
            </a:r>
            <a:r>
              <a:rPr sz="2800" b="0" dirty="0">
                <a:solidFill>
                  <a:srgbClr val="1D1D1D"/>
                </a:solidFill>
                <a:latin typeface="Georgia"/>
              </a:rPr>
              <a:t>Historical investigation workflow</a:t>
            </a:r>
          </a:p>
        </p:txBody>
      </p:sp>
      <p:pic>
        <p:nvPicPr>
          <p:cNvPr id="4" name="Picture 3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36" y="1353312"/>
            <a:ext cx="5519844" cy="3630168"/>
          </a:xfrm>
          <a:prstGeom prst="rect">
            <a:avLst/>
          </a:prstGeom>
        </p:spPr>
      </p:pic>
      <p:pic>
        <p:nvPicPr>
          <p:cNvPr id="5" name="Picture 4" descr="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353312"/>
            <a:ext cx="5420388" cy="36301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120640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5230368"/>
            <a:ext cx="4745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Historical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500116"/>
            <a:ext cx="4745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D1D1D"/>
                </a:solidFill>
                <a:latin typeface="Aptos"/>
              </a:rPr>
              <a:t>Filters and live-compatible updates keep the event list actionable during investigations without losing continuity.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4122" y="5120640"/>
            <a:ext cx="4983480" cy="109728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1573" y="5221471"/>
            <a:ext cx="4654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Event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8714" y="5459215"/>
            <a:ext cx="46542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D1D1D"/>
                </a:solidFill>
                <a:latin typeface="Aptos"/>
              </a:rPr>
              <a:t>The details view combines classification, dominant frequency, amplitude, coordinates, and sensor context in one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16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F1897C73-87F5-86CE-4C48-3CBC4288E421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289"/>
            <a:ext cx="80538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2800" b="0" dirty="0" err="1">
                <a:solidFill>
                  <a:srgbClr val="1D1D1D"/>
                </a:solidFill>
                <a:latin typeface="Georgia"/>
              </a:rPr>
              <a:t>Frontend</a:t>
            </a:r>
            <a:r>
              <a:rPr lang="it-IT" sz="2800" b="0" dirty="0">
                <a:solidFill>
                  <a:srgbClr val="1D1D1D"/>
                </a:solidFill>
                <a:latin typeface="Georgia"/>
              </a:rPr>
              <a:t>: </a:t>
            </a:r>
            <a:r>
              <a:rPr sz="2800" b="0" dirty="0">
                <a:solidFill>
                  <a:srgbClr val="1D1D1D"/>
                </a:solidFill>
                <a:latin typeface="Georgia"/>
              </a:rPr>
              <a:t>System Health and degraded operation</a:t>
            </a:r>
          </a:p>
        </p:txBody>
      </p:sp>
      <p:pic>
        <p:nvPicPr>
          <p:cNvPr id="4" name="Picture 3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6217920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783080"/>
            <a:ext cx="4008120" cy="3236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lang="it-IT" sz="1900" dirty="0">
                <a:solidFill>
                  <a:srgbClr val="1D1D1D"/>
                </a:solidFill>
                <a:latin typeface="Aptos"/>
              </a:rPr>
              <a:t>The System Health page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gives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to the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administrators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: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1900" dirty="0">
                <a:solidFill>
                  <a:srgbClr val="1D1D1D"/>
                </a:solidFill>
                <a:latin typeface="Aptos"/>
              </a:rPr>
              <a:t>a live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view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of replica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availability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,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heartbeat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status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1900" dirty="0" err="1">
                <a:solidFill>
                  <a:srgbClr val="1D1D1D"/>
                </a:solidFill>
                <a:latin typeface="Aptos"/>
              </a:rPr>
              <a:t>unavailable-since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timestamps</a:t>
            </a:r>
            <a:endParaRPr lang="it-IT" sz="1900" dirty="0">
              <a:solidFill>
                <a:srgbClr val="1D1D1D"/>
              </a:solidFill>
              <a:latin typeface="Aptos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it-IT" sz="1900" dirty="0" err="1">
                <a:solidFill>
                  <a:srgbClr val="1D1D1D"/>
                </a:solidFill>
                <a:latin typeface="Aptos"/>
              </a:rPr>
              <a:t>recent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cluster events,</a:t>
            </a:r>
          </a:p>
          <a:p>
            <a:pPr>
              <a:spcAft>
                <a:spcPts val="1000"/>
              </a:spcAft>
            </a:pPr>
            <a:r>
              <a:rPr lang="it-IT" sz="1900" dirty="0" err="1">
                <a:solidFill>
                  <a:srgbClr val="1D1D1D"/>
                </a:solidFill>
                <a:latin typeface="Aptos"/>
              </a:rPr>
              <a:t>helping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them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maintain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awareness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even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under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degraded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processing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conditions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.</a:t>
            </a:r>
            <a:endParaRPr sz="1900" dirty="0">
              <a:solidFill>
                <a:srgbClr val="1D1D1D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17</a:t>
            </a:r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A729434A-0B9C-EEA0-E405-ED1A0C1A7D8E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6915" y="222782"/>
            <a:ext cx="33673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End-to-End Runtime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F9C23E-D39C-8FB0-2000-11FCB4595181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A93829C-EE65-96EC-32C2-AA30EAEB0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885" y="100584"/>
            <a:ext cx="7395952" cy="63276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BE32E-B887-D352-18B2-E873FFEE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88D3C87-93C8-9C2B-37C6-438607FBA514}"/>
              </a:ext>
            </a:extLst>
          </p:cNvPr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AD295-C899-2FB7-E209-90ADACBEC3A4}"/>
              </a:ext>
            </a:extLst>
          </p:cNvPr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00C92-47E9-CAEE-A5C9-C613CBD079D8}"/>
              </a:ext>
            </a:extLst>
          </p:cNvPr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6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D5F91E9-68CC-0E3A-F802-3041704E4A63}"/>
              </a:ext>
            </a:extLst>
          </p:cNvPr>
          <p:cNvSpPr txBox="1"/>
          <p:nvPr/>
        </p:nvSpPr>
        <p:spPr>
          <a:xfrm>
            <a:off x="3013265" y="2690336"/>
            <a:ext cx="61654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7200" b="1" dirty="0">
                <a:solidFill>
                  <a:srgbClr val="1D1D1D"/>
                </a:solidFill>
                <a:latin typeface="Georgia"/>
              </a:rPr>
              <a:t>Thank </a:t>
            </a:r>
            <a:r>
              <a:rPr lang="it-IT" sz="7200" b="1" dirty="0" err="1">
                <a:solidFill>
                  <a:srgbClr val="1D1D1D"/>
                </a:solidFill>
                <a:latin typeface="Georgia"/>
              </a:rPr>
              <a:t>you</a:t>
            </a:r>
            <a:r>
              <a:rPr lang="it-IT" sz="7200" b="1" dirty="0">
                <a:solidFill>
                  <a:srgbClr val="1D1D1D"/>
                </a:solidFill>
                <a:latin typeface="Georgia"/>
              </a:rPr>
              <a:t> </a:t>
            </a:r>
            <a:r>
              <a:rPr lang="it-IT" sz="7200" b="1" dirty="0">
                <a:solidFill>
                  <a:srgbClr val="1D1D1D"/>
                </a:solidFill>
                <a:latin typeface="Georgia"/>
                <a:sym typeface="Wingdings" pitchFamily="2" charset="2"/>
              </a:rPr>
              <a:t>:)</a:t>
            </a:r>
            <a:endParaRPr lang="it-IT" sz="7200" b="1" dirty="0">
              <a:solidFill>
                <a:srgbClr val="1D1D1D"/>
              </a:solidFill>
              <a:latin typeface="Georgia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10310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869</Words>
  <Application>Microsoft Macintosh PowerPoint</Application>
  <PresentationFormat>Widescreen</PresentationFormat>
  <Paragraphs>147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Courier New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Tommaso Giorgini</cp:lastModifiedBy>
  <cp:revision>7</cp:revision>
  <dcterms:created xsi:type="dcterms:W3CDTF">2013-01-27T09:14:16Z</dcterms:created>
  <dcterms:modified xsi:type="dcterms:W3CDTF">2026-03-31T21:48:07Z</dcterms:modified>
  <cp:category/>
</cp:coreProperties>
</file>